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B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1280160"/>
            <a:ext cx="4937760" cy="4937760"/>
          </a:xfrm>
          <a:prstGeom prst="ellipse">
            <a:avLst/>
          </a:prstGeom>
          <a:solidFill>
            <a:srgbClr val="10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206240"/>
            <a:ext cx="3474720" cy="3474720"/>
          </a:xfrm>
          <a:prstGeom prst="ellipse">
            <a:avLst/>
          </a:prstGeom>
          <a:solidFill>
            <a:srgbClr val="0F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9B5C9"/>
                </a:solidFill>
                <a:latin typeface="微软雅黑"/>
                <a:ea typeface="微软雅黑"/>
              </a:rPr>
              <a:t>2027 挑战杯 · 新项目汇报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70432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微软雅黑"/>
                <a:ea typeface="微软雅黑"/>
              </a:rPr>
              <a:t>碳慧智算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2996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8FE3EA"/>
                </a:solidFill>
                <a:latin typeface="微软雅黑"/>
                <a:ea typeface="微软雅黑"/>
              </a:rPr>
              <a:t>实测 · 双验 · 碳成本 · 财务报表 / ESG · 最优路线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42032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8FA8"/>
                </a:solidFill>
                <a:latin typeface="微软雅黑"/>
                <a:ea typeface="微软雅黑"/>
              </a:rPr>
              <a:t>CARBONWISE · MEASURE · VERIFY · COST · REPORT · ROUTE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8" y="3127248"/>
            <a:ext cx="1188720" cy="36576"/>
          </a:xfrm>
          <a:prstGeom prst="rect">
            <a:avLst/>
          </a:prstGeom>
          <a:solidFill>
            <a:srgbClr val="19B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346704"/>
            <a:ext cx="96926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D7E2EE"/>
                </a:solidFill>
                <a:latin typeface="微软雅黑"/>
                <a:ea typeface="微软雅黑"/>
              </a:rPr>
              <a:t>让每一吨碳，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D7E2EE"/>
                </a:solidFill>
                <a:latin typeface="微软雅黑"/>
                <a:ea typeface="微软雅黑"/>
              </a:rPr>
              <a:t>都有实测、有票据、有账、有最优路线。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8778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FE3EA"/>
                </a:solidFill>
                <a:latin typeface="微软雅黑"/>
                <a:ea typeface="微软雅黑"/>
              </a:rPr>
              <a:t>工商数融合：商科口径 × 数据科学 × 工科装置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029200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北京工商大学数字书院 · 碳慧智算团队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36752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FB2C4"/>
                </a:solidFill>
                <a:latin typeface="微软雅黑"/>
                <a:ea typeface="微软雅黑"/>
              </a:rPr>
              <a:t>汇报对象：指导教师 ｜ 2026-10-28 ｜ v2.0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217920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F8FA8"/>
                </a:solidFill>
                <a:latin typeface="微软雅黑"/>
                <a:ea typeface="微软雅黑"/>
              </a:rPr>
              <a:t>内部汇报材料 · 装置接入是长期目标；当前用发票+运单+路线原型验证链路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961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7C86"/>
                </a:solidFill>
                <a:latin typeface="微软雅黑"/>
                <a:ea typeface="微软雅黑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B1B2B"/>
                </a:solidFill>
                <a:latin typeface="微软雅黑"/>
                <a:ea typeface="微软雅黑"/>
              </a:rPr>
              <a:t>一页结论：从“算碳”到“测—验—算本—出表—优路”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33856"/>
            <a:ext cx="566928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4A3"/>
                </a:solidFill>
                <a:latin typeface="微软雅黑"/>
                <a:ea typeface="微软雅黑"/>
              </a:rPr>
              <a:t>02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4A3"/>
                </a:solidFill>
                <a:latin typeface="微软雅黑"/>
                <a:ea typeface="微软雅黑"/>
              </a:rPr>
              <a:t>碳慧智算 · 实测—双验—算本—出表—优路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967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4A3"/>
                </a:solidFill>
                <a:latin typeface="微软雅黑"/>
                <a:ea typeface="微软雅黑"/>
              </a:rPr>
              <a:t>2026-10-28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微软雅黑"/>
                <a:ea typeface="微软雅黑"/>
              </a:rPr>
              <a:t>新项目把“工科装置 + 财务发票 + 高德路网”拧成一条链。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19072"/>
            <a:ext cx="420624" cy="420624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10512"/>
            <a:ext cx="4206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1700784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7C86"/>
                </a:solidFill>
                <a:latin typeface="微软雅黑"/>
                <a:ea typeface="微软雅黑"/>
              </a:rPr>
              <a:t>工科碳测算装置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1700784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C6B7A"/>
                </a:solidFill>
                <a:latin typeface="微软雅黑"/>
                <a:ea typeface="微软雅黑"/>
              </a:rPr>
              <a:t>最短时间拿到实时碳排放量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48839"/>
            <a:ext cx="182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94A3"/>
                </a:solidFill>
                <a:latin typeface="微软雅黑"/>
                <a:ea typeface="微软雅黑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450591"/>
            <a:ext cx="420624" cy="420624"/>
          </a:xfrm>
          <a:prstGeom prst="roundRect">
            <a:avLst>
              <a:gd name="adj" fmla="val 10000"/>
            </a:avLst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542032"/>
            <a:ext cx="4206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432303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B4762A"/>
                </a:solidFill>
                <a:latin typeface="微软雅黑"/>
                <a:ea typeface="微软雅黑"/>
              </a:rPr>
              <a:t>装置实测 × 发票数据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18688" y="2432303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C6B7A"/>
                </a:solidFill>
                <a:latin typeface="微软雅黑"/>
                <a:ea typeface="微软雅黑"/>
              </a:rPr>
              <a:t>双重验证，避免“算出来的碳”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880359"/>
            <a:ext cx="182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94A3"/>
                </a:solidFill>
                <a:latin typeface="微软雅黑"/>
                <a:ea typeface="微软雅黑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182112"/>
            <a:ext cx="420624" cy="420624"/>
          </a:xfrm>
          <a:prstGeom prst="roundRect">
            <a:avLst>
              <a:gd name="adj" fmla="val 10000"/>
            </a:avLst>
          </a:prstGeom>
          <a:solidFill>
            <a:srgbClr val="0E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273552"/>
            <a:ext cx="4206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3163824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5A8A"/>
                </a:solidFill>
                <a:latin typeface="微软雅黑"/>
                <a:ea typeface="微软雅黑"/>
              </a:rPr>
              <a:t>碳成本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18688" y="3163824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C6B7A"/>
                </a:solidFill>
                <a:latin typeface="微软雅黑"/>
                <a:ea typeface="微软雅黑"/>
              </a:rPr>
              <a:t>活动数据 × 因子 × 碳价 + 履约成本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611880"/>
            <a:ext cx="182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94A3"/>
                </a:solidFill>
                <a:latin typeface="微软雅黑"/>
                <a:ea typeface="微软雅黑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913632"/>
            <a:ext cx="420624" cy="420624"/>
          </a:xfrm>
          <a:prstGeom prst="roundRect">
            <a:avLst>
              <a:gd name="adj" fmla="val 10000"/>
            </a:avLst>
          </a:prstGeom>
          <a:solidFill>
            <a:srgbClr val="6B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005072"/>
            <a:ext cx="4206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3895344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B4C8A"/>
                </a:solidFill>
                <a:latin typeface="微软雅黑"/>
                <a:ea typeface="微软雅黑"/>
              </a:rPr>
              <a:t>财务报表 + ESG 报表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18688" y="3895344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C6B7A"/>
                </a:solidFill>
                <a:latin typeface="微软雅黑"/>
                <a:ea typeface="微软雅黑"/>
              </a:rPr>
              <a:t>同一套底稿，两种语言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343400"/>
            <a:ext cx="182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94A3"/>
                </a:solidFill>
                <a:latin typeface="微软雅黑"/>
                <a:ea typeface="微软雅黑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645152"/>
            <a:ext cx="420624" cy="420624"/>
          </a:xfrm>
          <a:prstGeom prst="roundRect">
            <a:avLst>
              <a:gd name="adj" fmla="val 10000"/>
            </a:avLst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736592"/>
            <a:ext cx="4206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" y="4626864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7A5C"/>
                </a:solidFill>
                <a:latin typeface="微软雅黑"/>
                <a:ea typeface="微软雅黑"/>
              </a:rPr>
              <a:t>高德二次模型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18688" y="4626864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C6B7A"/>
                </a:solidFill>
                <a:latin typeface="微软雅黑"/>
                <a:ea typeface="微软雅黑"/>
              </a:rPr>
              <a:t>碳 / 成本 / 时效多目标，选最优路线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26679" y="1353312"/>
            <a:ext cx="1847088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54696" y="1463040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E5A8A"/>
                </a:solidFill>
                <a:latin typeface="微软雅黑"/>
                <a:ea typeface="微软雅黑"/>
              </a:rPr>
              <a:t>33,214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54696" y="1865376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3"/>
                </a:solidFill>
                <a:latin typeface="微软雅黑"/>
                <a:ea typeface="微软雅黑"/>
              </a:rPr>
              <a:t>独立路段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20072" y="1353312"/>
            <a:ext cx="1847088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48088" y="1463040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E5A8A"/>
                </a:solidFill>
                <a:latin typeface="微软雅黑"/>
                <a:ea typeface="微软雅黑"/>
              </a:rPr>
              <a:t>2,258.438 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48088" y="1865376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3"/>
                </a:solidFill>
                <a:latin typeface="微软雅黑"/>
                <a:ea typeface="微软雅黑"/>
              </a:rPr>
              <a:t>物理主账 E₀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26679" y="2450591"/>
            <a:ext cx="1847088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54696" y="2560320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E5A8A"/>
                </a:solidFill>
                <a:latin typeface="微软雅黑"/>
                <a:ea typeface="微软雅黑"/>
              </a:rPr>
              <a:t>28 / 28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54696" y="2962656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3"/>
                </a:solidFill>
                <a:latin typeface="微软雅黑"/>
                <a:ea typeface="微软雅黑"/>
              </a:rPr>
              <a:t>发布闸门 PASS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20072" y="2450591"/>
            <a:ext cx="1847088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48088" y="2560320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E5A8A"/>
                </a:solidFill>
                <a:latin typeface="微软雅黑"/>
                <a:ea typeface="微软雅黑"/>
              </a:rPr>
              <a:t>247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48088" y="2962656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3"/>
                </a:solidFill>
                <a:latin typeface="微软雅黑"/>
                <a:ea typeface="微软雅黑"/>
              </a:rPr>
              <a:t>自动化测试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26679" y="3749039"/>
            <a:ext cx="3877056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82127" y="3858768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762A"/>
                </a:solidFill>
                <a:latin typeface="微软雅黑"/>
                <a:ea typeface="微软雅黑"/>
              </a:rPr>
              <a:t>本次汇报的边界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82127" y="4133087"/>
            <a:ext cx="356616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B1B2B"/>
                </a:solidFill>
                <a:latin typeface="微软雅黑"/>
                <a:ea typeface="微软雅黑"/>
              </a:rPr>
              <a:t>装置尚未接入；当前用发票+运单+高德路线原型验证链路；装置接入后，双验与碳成本才有真实数据。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5623560"/>
            <a:ext cx="11183112" cy="438912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" y="5623560"/>
            <a:ext cx="64008" cy="438912"/>
          </a:xfrm>
          <a:prstGeom prst="rect">
            <a:avLst/>
          </a:prstGeom>
          <a:solidFill>
            <a:srgbClr val="0E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5705856"/>
            <a:ext cx="1078992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B1B2B"/>
                </a:solidFill>
                <a:latin typeface="微软雅黑"/>
                <a:ea typeface="微软雅黑"/>
              </a:rPr>
              <a:t>新 KPI：实测覆盖率 · 双验一致率 · 碳成本入账率 · 报表时效 · 路线降碳率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6144768"/>
            <a:ext cx="11183112" cy="365760"/>
          </a:xfrm>
          <a:prstGeom prst="roundRect">
            <a:avLst>
              <a:gd name="adj" fmla="val 5000"/>
            </a:avLst>
          </a:prstGeom>
          <a:solidFill>
            <a:srgbClr val="FB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" y="6144768"/>
            <a:ext cx="64008" cy="36576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3232" y="6227064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B2B"/>
                </a:solidFill>
                <a:latin typeface="微软雅黑"/>
                <a:ea typeface="微软雅黑"/>
              </a:rPr>
              <a:t>77.4% / 4,809 万 / 9.6 年只作旧方案情景样例，不再作为新项目 KPI。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961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7C86"/>
                </a:solidFill>
                <a:latin typeface="微软雅黑"/>
                <a:ea typeface="微软雅黑"/>
              </a:rPr>
              <a:t>WHY REBUILD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B1B2B"/>
                </a:solidFill>
                <a:latin typeface="微软雅黑"/>
                <a:ea typeface="微软雅黑"/>
              </a:rPr>
              <a:t>为什么重构：碳数据的三个断点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33856"/>
            <a:ext cx="566928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4A3"/>
                </a:solidFill>
                <a:latin typeface="微软雅黑"/>
                <a:ea typeface="微软雅黑"/>
              </a:rPr>
              <a:t>03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4A3"/>
                </a:solidFill>
                <a:latin typeface="微软雅黑"/>
                <a:ea typeface="微软雅黑"/>
              </a:rPr>
              <a:t>碳慧智算 · 实测—双验—算本—出表—优路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967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4A3"/>
                </a:solidFill>
                <a:latin typeface="微软雅黑"/>
                <a:ea typeface="微软雅黑"/>
              </a:rPr>
              <a:t>2026-10-28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3520440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664208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7C86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95681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B1B2B"/>
                </a:solidFill>
                <a:latin typeface="微软雅黑"/>
                <a:ea typeface="微软雅黑"/>
              </a:rPr>
              <a:t>只有算、没有测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" y="2395728"/>
            <a:ext cx="457200" cy="3657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260604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微软雅黑"/>
                <a:ea typeface="微软雅黑"/>
              </a:rPr>
              <a:t>因子估算能出年账，但回答不了“这一刻排了多少”。装置给的是最短时间的实测碳数据。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4114800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7C86"/>
                </a:solidFill>
                <a:latin typeface="微软雅黑"/>
                <a:ea typeface="微软雅黑"/>
              </a:rPr>
              <a:t>→ 所以：要实测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0248" y="1508760"/>
            <a:ext cx="3520440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4" y="1664208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762A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195681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B1B2B"/>
                </a:solidFill>
                <a:latin typeface="微软雅黑"/>
                <a:ea typeface="微软雅黑"/>
              </a:rPr>
              <a:t>碳账与财务两张皮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9704" y="2395728"/>
            <a:ext cx="457200" cy="36576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9704" y="260604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微软雅黑"/>
                <a:ea typeface="微软雅黑"/>
              </a:rPr>
              <a:t>发票只用来算成本，没有参与碳验证。双验才能让碳成本从“估”变成“可入账”。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9704" y="4114800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762A"/>
                </a:solidFill>
                <a:latin typeface="微软雅黑"/>
                <a:ea typeface="微软雅黑"/>
              </a:rPr>
              <a:t>→ 所以：要双验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7576" y="1508760"/>
            <a:ext cx="3520440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2" y="1664208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7A5C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2" y="195681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B1B2B"/>
                </a:solidFill>
                <a:latin typeface="微软雅黑"/>
                <a:ea typeface="微软雅黑"/>
              </a:rPr>
              <a:t>路线与碳两张皮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57032" y="2395728"/>
            <a:ext cx="457200" cy="36576"/>
          </a:xfrm>
          <a:prstGeom prst="rect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57032" y="260604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微软雅黑"/>
                <a:ea typeface="微软雅黑"/>
              </a:rPr>
              <a:t>路线优化只看成本与时效，碳是事后补的字段。高德二次模型才能把碳放进选路。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2" y="4114800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7A5C"/>
                </a:solidFill>
                <a:latin typeface="微软雅黑"/>
                <a:ea typeface="微软雅黑"/>
              </a:rPr>
              <a:t>→ 所以：要二次模型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828032"/>
            <a:ext cx="11183112" cy="841248"/>
          </a:xfrm>
          <a:prstGeom prst="roundRect">
            <a:avLst>
              <a:gd name="adj" fmla="val 5000"/>
            </a:avLst>
          </a:prstGeom>
          <a:solidFill>
            <a:srgbClr val="0B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937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京采给了我们真实数据的胆量；新项目补的是“测、验、账、路”四个动作。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257800"/>
            <a:ext cx="10698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FB2C4"/>
                </a:solidFill>
                <a:latin typeface="微软雅黑"/>
                <a:ea typeface="微软雅黑"/>
              </a:rPr>
              <a:t>装置不是替代发票，发票也不是替代装置；两条数据链必须对上。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870448"/>
            <a:ext cx="11183112" cy="438912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5870448"/>
            <a:ext cx="64008" cy="438912"/>
          </a:xfrm>
          <a:prstGeom prst="rect">
            <a:avLst/>
          </a:prstGeom>
          <a:solidFill>
            <a:srgbClr val="0E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5952744"/>
            <a:ext cx="1078992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1B2B"/>
                </a:solidFill>
                <a:latin typeface="微软雅黑"/>
                <a:ea typeface="微软雅黑"/>
              </a:rPr>
              <a:t>旧项目解决“这家企业怎么减 70%”；新项目解决“每一吨碳怎么测、怎么验、怎么入账、怎么选路”。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961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7C86"/>
                </a:solidFill>
                <a:latin typeface="微软雅黑"/>
                <a:ea typeface="微软雅黑"/>
              </a:rP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B1B2B"/>
                </a:solidFill>
                <a:latin typeface="微软雅黑"/>
                <a:ea typeface="微软雅黑"/>
              </a:rPr>
              <a:t>新定位：五个角色，一条双链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33856"/>
            <a:ext cx="566928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4A3"/>
                </a:solidFill>
                <a:latin typeface="微软雅黑"/>
                <a:ea typeface="微软雅黑"/>
              </a:rPr>
              <a:t>04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4A3"/>
                </a:solidFill>
                <a:latin typeface="微软雅黑"/>
                <a:ea typeface="微软雅黑"/>
              </a:rPr>
              <a:t>碳慧智算 · 实测—双验—算本—出表—优路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967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4A3"/>
                </a:solidFill>
                <a:latin typeface="微软雅黑"/>
                <a:ea typeface="微软雅黑"/>
              </a:rPr>
              <a:t>2026-10-28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44752"/>
            <a:ext cx="3547872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53619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E7C86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792224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微软雅黑"/>
                <a:ea typeface="微软雅黑"/>
              </a:rPr>
              <a:t>实测器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121408"/>
            <a:ext cx="3154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1B2B"/>
                </a:solidFill>
                <a:latin typeface="微软雅黑"/>
                <a:ea typeface="微软雅黑"/>
              </a:rPr>
              <a:t>工科碳测算装置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377440"/>
            <a:ext cx="321868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最短时间获取碳排放量；采样、传输、入账三层时延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0248" y="1444752"/>
            <a:ext cx="3547872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53619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4762A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792224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4762A"/>
                </a:solidFill>
                <a:latin typeface="微软雅黑"/>
                <a:ea typeface="微软雅黑"/>
              </a:rPr>
              <a:t>校验器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121408"/>
            <a:ext cx="3154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1B2B"/>
                </a:solidFill>
                <a:latin typeface="微软雅黑"/>
                <a:ea typeface="微软雅黑"/>
              </a:rPr>
              <a:t>装置 × 发票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377440"/>
            <a:ext cx="321868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时间窗 + 车牌 + 数量/金额匹配；一致 / 偏差 / 异常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6" y="1444752"/>
            <a:ext cx="3547872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8" y="153619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E5A8A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1792224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5A8A"/>
                </a:solidFill>
                <a:latin typeface="微软雅黑"/>
                <a:ea typeface="微软雅黑"/>
              </a:rPr>
              <a:t>算本器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2121408"/>
            <a:ext cx="3154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1B2B"/>
                </a:solidFill>
                <a:latin typeface="微软雅黑"/>
                <a:ea typeface="微软雅黑"/>
              </a:rPr>
              <a:t>碳成本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2377440"/>
            <a:ext cx="321868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活动数据 × 因子 × 碳价 + 履约/超额成本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529584"/>
            <a:ext cx="3547872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362102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B4C8A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3877056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B4C8A"/>
                </a:solidFill>
                <a:latin typeface="微软雅黑"/>
                <a:ea typeface="微软雅黑"/>
              </a:rPr>
              <a:t>出证器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" y="4206240"/>
            <a:ext cx="3154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1B2B"/>
                </a:solidFill>
                <a:latin typeface="微软雅黑"/>
                <a:ea typeface="微软雅黑"/>
              </a:rPr>
              <a:t>财务报表 + ESG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" y="4462272"/>
            <a:ext cx="321868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成本科目、配额资产、范围一/二、披露附注、证据包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70248" y="3529584"/>
            <a:ext cx="3547872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362102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F7A5C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3877056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7A5C"/>
                </a:solidFill>
                <a:latin typeface="微软雅黑"/>
                <a:ea typeface="微软雅黑"/>
              </a:rPr>
              <a:t>导航仪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4206240"/>
            <a:ext cx="3154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1B2B"/>
                </a:solidFill>
                <a:latin typeface="微软雅黑"/>
                <a:ea typeface="微软雅黑"/>
              </a:rPr>
              <a:t>高德二次模型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4462272"/>
            <a:ext cx="321868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候选路线 + 路况 + 车型/载重 + 碳/成本/时效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37576" y="3529584"/>
            <a:ext cx="3547872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02168" y="362102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E3B5A"/>
                </a:solidFill>
                <a:latin typeface="微软雅黑"/>
                <a:ea typeface="微软雅黑"/>
              </a:rPr>
              <a:t>∞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02168" y="3877056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3B5A"/>
                </a:solidFill>
                <a:latin typeface="微软雅黑"/>
                <a:ea typeface="微软雅黑"/>
              </a:rPr>
              <a:t>闭环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02168" y="4206240"/>
            <a:ext cx="3154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1B2B"/>
                </a:solidFill>
                <a:latin typeface="微软雅黑"/>
                <a:ea typeface="微软雅黑"/>
              </a:rPr>
              <a:t>执行回流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02168" y="4462272"/>
            <a:ext cx="321868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路线执行数据回到实测与双验；目标 vs 实际回到策略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779008"/>
            <a:ext cx="11183112" cy="438912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5779008"/>
            <a:ext cx="64008" cy="438912"/>
          </a:xfrm>
          <a:prstGeom prst="rect">
            <a:avLst/>
          </a:prstGeom>
          <a:solidFill>
            <a:srgbClr val="0E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5861304"/>
            <a:ext cx="1078992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1B2B"/>
                </a:solidFill>
                <a:latin typeface="微软雅黑"/>
                <a:ea typeface="微软雅黑"/>
              </a:rPr>
              <a:t>五个角色不是五个模块：实测与双验产出可信活动数据，一路进碳成本/报表，一路进高德二次模型。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961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7C86"/>
                </a:solidFill>
                <a:latin typeface="微软雅黑"/>
                <a:ea typeface="微软雅黑"/>
              </a:rPr>
              <a:t>DUAL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B1B2B"/>
                </a:solidFill>
                <a:latin typeface="微软雅黑"/>
                <a:ea typeface="微软雅黑"/>
              </a:rPr>
              <a:t>双链闭环：一条价值链，一条优化链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33856"/>
            <a:ext cx="566928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4A3"/>
                </a:solidFill>
                <a:latin typeface="微软雅黑"/>
                <a:ea typeface="微软雅黑"/>
              </a:rPr>
              <a:t>05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4A3"/>
                </a:solidFill>
                <a:latin typeface="微软雅黑"/>
                <a:ea typeface="微软雅黑"/>
              </a:rPr>
              <a:t>碳慧智算 · 实测—双验—算本—出表—优路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967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4A3"/>
                </a:solidFill>
                <a:latin typeface="微软雅黑"/>
                <a:ea typeface="微软雅黑"/>
              </a:rPr>
              <a:t>2026-10-28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微软雅黑"/>
                <a:ea typeface="微软雅黑"/>
              </a:rPr>
              <a:t>价值链 · 对财务与 ESG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2487168" cy="932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54864" cy="932688"/>
          </a:xfrm>
          <a:prstGeom prst="rect">
            <a:avLst/>
          </a:prstGeom>
          <a:solidFill>
            <a:srgbClr val="0E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166420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5A8A"/>
                </a:solidFill>
                <a:latin typeface="微软雅黑"/>
                <a:ea typeface="微软雅黑"/>
              </a:rPr>
              <a:t>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1993392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口径/碳价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026663" y="1901952"/>
            <a:ext cx="219456" cy="219456"/>
          </a:xfrm>
          <a:prstGeom prst="rightArrow">
            <a:avLst/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19272" y="1554480"/>
            <a:ext cx="2487168" cy="932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19272" y="1554480"/>
            <a:ext cx="54864" cy="93268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65576" y="166420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微软雅黑"/>
                <a:ea typeface="微软雅黑"/>
              </a:rPr>
              <a:t>实测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5576" y="1993392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装置/实时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843016" y="1901952"/>
            <a:ext cx="219456" cy="219456"/>
          </a:xfrm>
          <a:prstGeom prst="rightArrow">
            <a:avLst/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35624" y="1554480"/>
            <a:ext cx="2487168" cy="932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35624" y="1554480"/>
            <a:ext cx="54864" cy="932688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1928" y="166420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4762A"/>
                </a:solidFill>
                <a:latin typeface="微软雅黑"/>
                <a:ea typeface="微软雅黑"/>
              </a:rPr>
              <a:t>双验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1993392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发票/交叉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659367" y="1901952"/>
            <a:ext cx="219456" cy="219456"/>
          </a:xfrm>
          <a:prstGeom prst="rightArrow">
            <a:avLst/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51976" y="1554480"/>
            <a:ext cx="2487168" cy="932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51976" y="1554480"/>
            <a:ext cx="54864" cy="932688"/>
          </a:xfrm>
          <a:prstGeom prst="rect">
            <a:avLst/>
          </a:prstGeom>
          <a:solidFill>
            <a:srgbClr val="6B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8280" y="166420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B4C8A"/>
                </a:solidFill>
                <a:latin typeface="微软雅黑"/>
                <a:ea typeface="微软雅黑"/>
              </a:rPr>
              <a:t>算本出表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1993392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碳成本/两张表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2743200"/>
            <a:ext cx="553212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2852928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B4C8A"/>
                </a:solidFill>
                <a:latin typeface="微软雅黑"/>
                <a:ea typeface="微软雅黑"/>
              </a:rPr>
              <a:t>两张表，同一套底稿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3127248"/>
            <a:ext cx="5120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财务报表：成本科目 / 配额资产 / 预算 vs 实际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ESG 报表：范围一/二 / 强度 / 目标 / 披露附注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2743200"/>
            <a:ext cx="5422392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2852928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7A5C"/>
                </a:solidFill>
                <a:latin typeface="微软雅黑"/>
                <a:ea typeface="微软雅黑"/>
              </a:rPr>
              <a:t>执行回流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3127248"/>
            <a:ext cx="5029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最优路线的实际里程 / 油耗 / 时延回到实测与双验，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形成“测—验—算—报—优”的下一期基线。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04164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7A5C"/>
                </a:solidFill>
                <a:latin typeface="微软雅黑"/>
                <a:ea typeface="微软雅黑"/>
              </a:rPr>
              <a:t>优化链 · 对运营与调度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315968"/>
            <a:ext cx="340156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4315968"/>
            <a:ext cx="54864" cy="9601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" y="4425696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C86"/>
                </a:solidFill>
                <a:latin typeface="微软雅黑"/>
                <a:ea typeface="微软雅黑"/>
              </a:rPr>
              <a:t>数据整合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" y="4754880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微软雅黑"/>
                <a:ea typeface="微软雅黑"/>
              </a:rPr>
              <a:t>实测 + 双验 + 运单/路网 + 碳价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3941063" y="4663440"/>
            <a:ext cx="219456" cy="219456"/>
          </a:xfrm>
          <a:prstGeom prst="rightArrow">
            <a:avLst/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251959" y="4315968"/>
            <a:ext cx="340156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51959" y="4315968"/>
            <a:ext cx="54864" cy="960120"/>
          </a:xfrm>
          <a:prstGeom prst="rect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98264" y="4425696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7A5C"/>
                </a:solidFill>
                <a:latin typeface="微软雅黑"/>
                <a:ea typeface="微软雅黑"/>
              </a:rPr>
              <a:t>高德二次模型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98264" y="4754880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微软雅黑"/>
                <a:ea typeface="微软雅黑"/>
              </a:rPr>
              <a:t>候选路线/路况/收费/车型/载重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7690104" y="4663440"/>
            <a:ext cx="219456" cy="219456"/>
          </a:xfrm>
          <a:prstGeom prst="rightArrow">
            <a:avLst/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001000" y="4315968"/>
            <a:ext cx="340156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01000" y="4315968"/>
            <a:ext cx="54864" cy="96012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47304" y="4425696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4762A"/>
                </a:solidFill>
                <a:latin typeface="微软雅黑"/>
                <a:ea typeface="微软雅黑"/>
              </a:rPr>
              <a:t>最优路线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47304" y="4754880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微软雅黑"/>
                <a:ea typeface="微软雅黑"/>
              </a:rPr>
              <a:t>碳/成本/时效多目标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5532120"/>
            <a:ext cx="11183112" cy="438912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" y="5532120"/>
            <a:ext cx="64008" cy="438912"/>
          </a:xfrm>
          <a:prstGeom prst="rect">
            <a:avLst/>
          </a:prstGeom>
          <a:solidFill>
            <a:srgbClr val="0E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3232" y="5614416"/>
            <a:ext cx="1078992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0B1B2B"/>
                </a:solidFill>
                <a:latin typeface="微软雅黑"/>
                <a:ea typeface="微软雅黑"/>
              </a:rPr>
              <a:t>同一批数据，两条出口：一条进财务报表/ESG，一条进高德二次模型；执行数据再回流实测。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961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7C86"/>
                </a:solidFill>
                <a:latin typeface="微软雅黑"/>
                <a:ea typeface="微软雅黑"/>
              </a:rPr>
              <a:t>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B1B2B"/>
                </a:solidFill>
                <a:latin typeface="微软雅黑"/>
                <a:ea typeface="微软雅黑"/>
              </a:rPr>
              <a:t>策略层：先定“测什么、怎么验、怎么入账”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33856"/>
            <a:ext cx="566928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4A3"/>
                </a:solidFill>
                <a:latin typeface="微软雅黑"/>
                <a:ea typeface="微软雅黑"/>
              </a:rPr>
              <a:t>06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4A3"/>
                </a:solidFill>
                <a:latin typeface="微软雅黑"/>
                <a:ea typeface="微软雅黑"/>
              </a:rPr>
              <a:t>碳慧智算 · 实测—双验—算本—出表—优路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967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4A3"/>
                </a:solidFill>
                <a:latin typeface="微软雅黑"/>
                <a:ea typeface="微软雅黑"/>
              </a:rPr>
              <a:t>2026-10-28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微软雅黑"/>
                <a:ea typeface="微软雅黑"/>
              </a:rPr>
              <a:t>不是先买设备，也不是先接高德；先把规则定下来。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37360"/>
            <a:ext cx="1325880" cy="566928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1883664"/>
            <a:ext cx="11704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5A8A"/>
                </a:solidFill>
                <a:latin typeface="微软雅黑"/>
                <a:ea typeface="微软雅黑"/>
              </a:rPr>
              <a:t>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93392" y="1865376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B1B2B"/>
                </a:solidFill>
                <a:latin typeface="微软雅黑"/>
                <a:ea typeface="微软雅黑"/>
              </a:rPr>
              <a:t>哪些车/仓/外包；范围一/二/三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450591"/>
            <a:ext cx="1325880" cy="566928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2596896"/>
            <a:ext cx="11704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5A8A"/>
                </a:solidFill>
                <a:latin typeface="微软雅黑"/>
                <a:ea typeface="微软雅黑"/>
              </a:rPr>
              <a:t>实测口径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93392" y="2578608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B1B2B"/>
                </a:solidFill>
                <a:latin typeface="微软雅黑"/>
                <a:ea typeface="微软雅黑"/>
              </a:rPr>
              <a:t>采样频率、设备精度、时延上限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163824"/>
            <a:ext cx="1325880" cy="566928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3310128"/>
            <a:ext cx="11704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5A8A"/>
                </a:solidFill>
                <a:latin typeface="微软雅黑"/>
                <a:ea typeface="微软雅黑"/>
              </a:rPr>
              <a:t>双验规则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93392" y="3291840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B1B2B"/>
                </a:solidFill>
                <a:latin typeface="微软雅黑"/>
                <a:ea typeface="微软雅黑"/>
              </a:rPr>
              <a:t>匹配键、容差、异常处置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877056"/>
            <a:ext cx="1325880" cy="566928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4023360"/>
            <a:ext cx="11704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5A8A"/>
                </a:solidFill>
                <a:latin typeface="微软雅黑"/>
                <a:ea typeface="微软雅黑"/>
              </a:rPr>
              <a:t>碳价/成本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93392" y="4005072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B1B2B"/>
                </a:solidFill>
                <a:latin typeface="微软雅黑"/>
                <a:ea typeface="微软雅黑"/>
              </a:rPr>
              <a:t>内部碳价、配额、履约成本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590288"/>
            <a:ext cx="1325880" cy="566928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" y="4736592"/>
            <a:ext cx="11704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5A8A"/>
                </a:solidFill>
                <a:latin typeface="微软雅黑"/>
                <a:ea typeface="微软雅黑"/>
              </a:rPr>
              <a:t>报告对象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93392" y="4718303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B1B2B"/>
                </a:solidFill>
                <a:latin typeface="微软雅黑"/>
                <a:ea typeface="微软雅黑"/>
              </a:rPr>
              <a:t>财务/ESG/客户/审厂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1417320"/>
            <a:ext cx="5230368" cy="39776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1554480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7C86"/>
                </a:solidFill>
                <a:latin typeface="微软雅黑"/>
                <a:ea typeface="微软雅黑"/>
              </a:rPr>
              <a:t>口径卡 v2（第一优先级）</a:t>
            </a:r>
          </a:p>
        </p:txBody>
      </p:sp>
      <p:sp>
        <p:nvSpPr>
          <p:cNvPr id="26" name="Oval 25"/>
          <p:cNvSpPr/>
          <p:nvPr/>
        </p:nvSpPr>
        <p:spPr>
          <a:xfrm>
            <a:off x="6656832" y="2002536"/>
            <a:ext cx="91440" cy="9144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1920240"/>
            <a:ext cx="4526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B1B2B"/>
                </a:solidFill>
                <a:latin typeface="微软雅黑"/>
                <a:ea typeface="微软雅黑"/>
              </a:rPr>
              <a:t>装置接入与采样协议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26679" y="2157984"/>
            <a:ext cx="3520440" cy="10972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656832" y="2496312"/>
            <a:ext cx="91440" cy="9144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2414016"/>
            <a:ext cx="4526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B1B2B"/>
                </a:solidFill>
                <a:latin typeface="微软雅黑"/>
                <a:ea typeface="微软雅黑"/>
              </a:rPr>
              <a:t>发票/财务匹配规则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26679" y="2651760"/>
            <a:ext cx="3520440" cy="10972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56832" y="2990088"/>
            <a:ext cx="91440" cy="9144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2907792"/>
            <a:ext cx="4526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B1B2B"/>
                </a:solidFill>
                <a:latin typeface="微软雅黑"/>
                <a:ea typeface="微软雅黑"/>
              </a:rPr>
              <a:t>双验容差与冲正规则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26679" y="3145536"/>
            <a:ext cx="3520440" cy="10972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656832" y="3483864"/>
            <a:ext cx="91440" cy="9144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3401568"/>
            <a:ext cx="4526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B1B2B"/>
                </a:solidFill>
                <a:latin typeface="微软雅黑"/>
                <a:ea typeface="微软雅黑"/>
              </a:rPr>
              <a:t>碳成本公式与碳价假设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26679" y="3639312"/>
            <a:ext cx="3520440" cy="10972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656832" y="3977639"/>
            <a:ext cx="91440" cy="9144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3895344"/>
            <a:ext cx="4526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B1B2B"/>
                </a:solidFill>
                <a:latin typeface="微软雅黑"/>
                <a:ea typeface="微软雅黑"/>
              </a:rPr>
              <a:t>财务报表/ESG 字段映射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26679" y="4133087"/>
            <a:ext cx="3520440" cy="10972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656832" y="4471416"/>
            <a:ext cx="91440" cy="9144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0" y="4389120"/>
            <a:ext cx="4526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B1B2B"/>
                </a:solidFill>
                <a:latin typeface="微软雅黑"/>
                <a:ea typeface="微软雅黑"/>
              </a:rPr>
              <a:t>签字、版本与变更记录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26679" y="4626864"/>
            <a:ext cx="3520440" cy="10972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29400" y="4956048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5C6B7A"/>
                </a:solidFill>
                <a:latin typeface="微软雅黑"/>
                <a:ea typeface="微软雅黑"/>
              </a:rPr>
              <a:t>目标：换一个人，只看这张卡，也能复算出同一笔碳成本。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5596128"/>
            <a:ext cx="11183112" cy="438912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20" y="5596128"/>
            <a:ext cx="64008" cy="438912"/>
          </a:xfrm>
          <a:prstGeom prst="rect">
            <a:avLst/>
          </a:prstGeom>
          <a:solidFill>
            <a:srgbClr val="0E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5678424"/>
            <a:ext cx="1078992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0B1B2B"/>
                </a:solidFill>
                <a:latin typeface="微软雅黑"/>
                <a:ea typeface="微软雅黑"/>
              </a:rPr>
              <a:t>策略层不产出数字，它产出“数字的规则”；规则不清，装置再准、发票再全也会算错。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961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7C86"/>
                </a:solidFill>
                <a:latin typeface="微软雅黑"/>
                <a:ea typeface="微软雅黑"/>
              </a:rPr>
              <a:t>MEASURE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B1B2B"/>
                </a:solidFill>
                <a:latin typeface="微软雅黑"/>
                <a:ea typeface="微软雅黑"/>
              </a:rPr>
              <a:t>实测层：工科装置，最短时间拿到碳数据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33856"/>
            <a:ext cx="566928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4A3"/>
                </a:solidFill>
                <a:latin typeface="微软雅黑"/>
                <a:ea typeface="微软雅黑"/>
              </a:rPr>
              <a:t>07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4A3"/>
                </a:solidFill>
                <a:latin typeface="微软雅黑"/>
                <a:ea typeface="微软雅黑"/>
              </a:rPr>
              <a:t>碳慧智算 · 实测—双验—算本—出表—优路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967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4A3"/>
                </a:solidFill>
                <a:latin typeface="微软雅黑"/>
                <a:ea typeface="微软雅黑"/>
              </a:rPr>
              <a:t>2026-10-28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C6B7A"/>
                </a:solidFill>
                <a:latin typeface="微软雅黑"/>
                <a:ea typeface="微软雅黑"/>
              </a:rPr>
              <a:t>“最短时间”不是一句口号，要拆成采样、传输、入账三层时延。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45920"/>
            <a:ext cx="3456432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45920"/>
            <a:ext cx="54864" cy="1417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77393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C86"/>
                </a:solidFill>
                <a:latin typeface="微软雅黑"/>
                <a:ea typeface="微软雅黑"/>
              </a:rPr>
              <a:t>工科碳测算装置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121408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CO₂ / 能耗 / 工况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车牌 / 时间戳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995928" y="2240280"/>
            <a:ext cx="219456" cy="219456"/>
          </a:xfrm>
          <a:prstGeom prst="rightArrow">
            <a:avLst/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70248" y="1645920"/>
            <a:ext cx="3456432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0248" y="1645920"/>
            <a:ext cx="54864" cy="1417320"/>
          </a:xfrm>
          <a:prstGeom prst="rect">
            <a:avLst/>
          </a:prstGeom>
          <a:solidFill>
            <a:srgbClr val="0E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77393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5A8A"/>
                </a:solidFill>
                <a:latin typeface="微软雅黑"/>
                <a:ea typeface="微软雅黑"/>
              </a:rPr>
              <a:t>边缘网关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121408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秒级/分钟级汇聚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断网续传 / 去重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763256" y="2240280"/>
            <a:ext cx="219456" cy="219456"/>
          </a:xfrm>
          <a:prstGeom prst="rightArrow">
            <a:avLst/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37576" y="1645920"/>
            <a:ext cx="3456432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37576" y="1645920"/>
            <a:ext cx="54864" cy="1417320"/>
          </a:xfrm>
          <a:prstGeom prst="rect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2168" y="177393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7A5C"/>
                </a:solidFill>
                <a:latin typeface="微软雅黑"/>
                <a:ea typeface="微软雅黑"/>
              </a:rPr>
              <a:t>碳数据流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2121408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实时曲线 / 异常告警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可追溯的读数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310128"/>
            <a:ext cx="3456432" cy="841248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" y="340156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采样间隔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" y="363931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5A8A"/>
                </a:solidFill>
                <a:latin typeface="微软雅黑"/>
                <a:ea typeface="微软雅黑"/>
              </a:rPr>
              <a:t>目标 ≤ 1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3657600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4A3"/>
                </a:solidFill>
                <a:latin typeface="微软雅黑"/>
                <a:ea typeface="微软雅黑"/>
              </a:rPr>
              <a:t>装置侧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70248" y="3310128"/>
            <a:ext cx="3456432" cy="841248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16552" y="340156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端到端时延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6552" y="363931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5A8A"/>
                </a:solidFill>
                <a:latin typeface="微软雅黑"/>
                <a:ea typeface="微软雅黑"/>
              </a:rPr>
              <a:t>目标 ≤ 5 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3657600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4A3"/>
                </a:solidFill>
                <a:latin typeface="微软雅黑"/>
                <a:ea typeface="微软雅黑"/>
              </a:rPr>
              <a:t>传输+入账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37576" y="3310128"/>
            <a:ext cx="3456432" cy="841248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80" y="340156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数据完整率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363931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5A8A"/>
                </a:solidFill>
                <a:latin typeface="微软雅黑"/>
                <a:ea typeface="微软雅黑"/>
              </a:rPr>
              <a:t>目标 ≥ 99%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94976" y="3657600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4A3"/>
                </a:solidFill>
                <a:latin typeface="微软雅黑"/>
                <a:ea typeface="微软雅黑"/>
              </a:rPr>
              <a:t>断网/补传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370832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1B2B"/>
                </a:solidFill>
                <a:latin typeface="微软雅黑"/>
                <a:ea typeface="微软雅黑"/>
              </a:rPr>
              <a:t>装置要回答的是“这一刻排了多少”，不是“年底估了多少”。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4736592"/>
            <a:ext cx="5349240" cy="566928"/>
          </a:xfrm>
          <a:prstGeom prst="roundRect">
            <a:avLst>
              <a:gd name="adj" fmla="val 5000"/>
            </a:avLst>
          </a:prstGeom>
          <a:solidFill>
            <a:srgbClr val="FB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82803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4762A"/>
                </a:solidFill>
                <a:latin typeface="微软雅黑"/>
                <a:ea typeface="微软雅黑"/>
              </a:rPr>
              <a:t>当前：装置未接入；先用发票+运单+路线原型验证链路。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35040" y="4736592"/>
            <a:ext cx="5650992" cy="566928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482803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E5A8A"/>
                </a:solidFill>
                <a:latin typeface="微软雅黑"/>
                <a:ea typeface="微软雅黑"/>
              </a:rPr>
              <a:t>实测不是替代核算：装置给实时量，核算给口径与可复核的账。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596128"/>
            <a:ext cx="11183112" cy="438912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" y="5596128"/>
            <a:ext cx="64008" cy="438912"/>
          </a:xfrm>
          <a:prstGeom prst="rect">
            <a:avLst/>
          </a:prstGeom>
          <a:solidFill>
            <a:srgbClr val="0E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" y="5678424"/>
            <a:ext cx="1078992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B2B"/>
                </a:solidFill>
                <a:latin typeface="微软雅黑"/>
                <a:ea typeface="微软雅黑"/>
              </a:rPr>
              <a:t>三层时延都要写进口径卡：采样多快、传多快、多久能进账；否则“实时”只是演示。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961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7C86"/>
                </a:solidFill>
                <a:latin typeface="微软雅黑"/>
                <a:ea typeface="微软雅黑"/>
              </a:rPr>
              <a:t>DUAL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B1B2B"/>
                </a:solidFill>
                <a:latin typeface="微软雅黑"/>
                <a:ea typeface="微软雅黑"/>
              </a:rPr>
              <a:t>双验层：装置实测 × 发票数据，交叉验证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33856"/>
            <a:ext cx="566928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4A3"/>
                </a:solidFill>
                <a:latin typeface="微软雅黑"/>
                <a:ea typeface="微软雅黑"/>
              </a:rPr>
              <a:t>08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4A3"/>
                </a:solidFill>
                <a:latin typeface="微软雅黑"/>
                <a:ea typeface="微软雅黑"/>
              </a:rPr>
              <a:t>碳慧智算 · 实测—双验—算本—出表—优路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967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4A3"/>
                </a:solidFill>
                <a:latin typeface="微软雅黑"/>
                <a:ea typeface="微软雅黑"/>
              </a:rPr>
              <a:t>2026-10-28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5669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C6B7A"/>
                </a:solidFill>
                <a:latin typeface="微软雅黑"/>
                <a:ea typeface="微软雅黑"/>
              </a:rPr>
              <a:t>实测给实时，发票给证据；两者对上，碳成本才能入账。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64208"/>
            <a:ext cx="41605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64208"/>
            <a:ext cx="50292" cy="1417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792224"/>
            <a:ext cx="3849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微软雅黑"/>
                <a:ea typeface="微软雅黑"/>
              </a:rPr>
              <a:t>装置实测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103120"/>
            <a:ext cx="3849624" cy="9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微软雅黑"/>
                <a:ea typeface="微软雅黑"/>
              </a:rPr>
              <a:t>时间戳 / 车牌 / CO₂ / 能耗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微软雅黑"/>
                <a:ea typeface="微软雅黑"/>
              </a:rPr>
              <a:t>秒级读数、连续、可追溯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825496"/>
            <a:ext cx="3849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4A3"/>
                </a:solidFill>
                <a:latin typeface="微软雅黑"/>
                <a:ea typeface="微软雅黑"/>
              </a:rPr>
              <a:t>实时数据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1664208"/>
            <a:ext cx="41605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25512" y="1664208"/>
            <a:ext cx="50292" cy="141732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0104" y="1792224"/>
            <a:ext cx="3849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4762A"/>
                </a:solidFill>
                <a:latin typeface="微软雅黑"/>
                <a:ea typeface="微软雅黑"/>
              </a:rPr>
              <a:t>发票数据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0104" y="2103120"/>
            <a:ext cx="3849624" cy="9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微软雅黑"/>
                <a:ea typeface="微软雅黑"/>
              </a:rPr>
              <a:t>日期 / 车牌 / 数量 / 单价 / 金额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微软雅黑"/>
                <a:ea typeface="微软雅黑"/>
              </a:rPr>
              <a:t>月度、有凭证、可核对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0104" y="2825496"/>
            <a:ext cx="3849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4A3"/>
                </a:solidFill>
                <a:latin typeface="微软雅黑"/>
                <a:ea typeface="微软雅黑"/>
              </a:rPr>
              <a:t>财务证据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64608" y="1664208"/>
            <a:ext cx="246888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10912" y="177393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E5A8A"/>
                </a:solidFill>
                <a:latin typeface="微软雅黑"/>
                <a:ea typeface="微软雅黑"/>
              </a:rPr>
              <a:t>匹配键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10912" y="2011680"/>
            <a:ext cx="21945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1B2B"/>
                </a:solidFill>
                <a:latin typeface="微软雅黑"/>
                <a:ea typeface="微软雅黑"/>
              </a:rPr>
              <a:t>时间窗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1B2B"/>
                </a:solidFill>
                <a:latin typeface="微软雅黑"/>
                <a:ea typeface="微软雅黑"/>
              </a:rPr>
              <a:t>+ 车牌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1B2B"/>
                </a:solidFill>
                <a:latin typeface="微软雅黑"/>
                <a:ea typeface="微软雅黑"/>
              </a:rPr>
              <a:t>+ 数量/金额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337560"/>
            <a:ext cx="352044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337560"/>
            <a:ext cx="54864" cy="1051560"/>
          </a:xfrm>
          <a:prstGeom prst="rect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3456432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7A5C"/>
                </a:solidFill>
                <a:latin typeface="微软雅黑"/>
                <a:ea typeface="微软雅黑"/>
              </a:rPr>
              <a:t>一致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3749039"/>
            <a:ext cx="31546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实测 ≈ 发票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→ 可信活动数据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70248" y="3337560"/>
            <a:ext cx="352044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70248" y="3337560"/>
            <a:ext cx="54864" cy="105156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3456432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4762A"/>
                </a:solidFill>
                <a:latin typeface="微软雅黑"/>
                <a:ea typeface="微软雅黑"/>
              </a:rPr>
              <a:t>偏差可解释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3749039"/>
            <a:ext cx="31546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工况/因子/时延差异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→ 校准后入账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37576" y="3337560"/>
            <a:ext cx="352044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37576" y="3337560"/>
            <a:ext cx="54864" cy="105156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02168" y="3456432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3A2E"/>
                </a:solidFill>
                <a:latin typeface="微软雅黑"/>
                <a:ea typeface="微软雅黑"/>
              </a:rPr>
              <a:t>异常待复核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2168" y="3749039"/>
            <a:ext cx="31546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数量/金额/车牌不符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→ 复核、冲正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5902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示例：65.5 L 柴油 → 206.98 kgCO₂e；1,000 kWh 电力 → 556.8 kgCO₂e；4 车端到端验证偏差 0% / +0.01% / −27.94% / +45.00%。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074920"/>
            <a:ext cx="11183112" cy="438912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5074920"/>
            <a:ext cx="64008" cy="438912"/>
          </a:xfrm>
          <a:prstGeom prst="rect">
            <a:avLst/>
          </a:prstGeom>
          <a:solidFill>
            <a:srgbClr val="0E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5157216"/>
            <a:ext cx="1078992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0B1B2B"/>
                </a:solidFill>
                <a:latin typeface="微软雅黑"/>
                <a:ea typeface="微软雅黑"/>
              </a:rPr>
              <a:t>双验不是二选一：装置与发票互为校验；一致才入账，偏差要解释，异常要复核。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806440"/>
            <a:ext cx="11183112" cy="438912"/>
          </a:xfrm>
          <a:prstGeom prst="roundRect">
            <a:avLst>
              <a:gd name="adj" fmla="val 5000"/>
            </a:avLst>
          </a:prstGeom>
          <a:solidFill>
            <a:srgbClr val="FB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879592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762A"/>
                </a:solidFill>
                <a:latin typeface="微软雅黑"/>
                <a:ea typeface="微软雅黑"/>
              </a:rPr>
              <a:t>产品化要求：双验一致率、偏差解释率、异常闭环率，三率都要进月度报表。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961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7C86"/>
                </a:solidFill>
                <a:latin typeface="微软雅黑"/>
                <a:ea typeface="微软雅黑"/>
              </a:rPr>
              <a:t>COST &amp;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B1B2B"/>
                </a:solidFill>
                <a:latin typeface="微软雅黑"/>
                <a:ea typeface="微软雅黑"/>
              </a:rPr>
              <a:t>算本出表：碳成本进入账体、财务报表与 ESG 报表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33856"/>
            <a:ext cx="566928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4A3"/>
                </a:solidFill>
                <a:latin typeface="微软雅黑"/>
                <a:ea typeface="微软雅黑"/>
              </a:rPr>
              <a:t>09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4A3"/>
                </a:solidFill>
                <a:latin typeface="微软雅黑"/>
                <a:ea typeface="微软雅黑"/>
              </a:rPr>
              <a:t>碳慧智算 · 实测—双验—算本—出表—优路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967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4A3"/>
                </a:solidFill>
                <a:latin typeface="微软雅黑"/>
                <a:ea typeface="微软雅黑"/>
              </a:rPr>
              <a:t>2026-10-28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577840" cy="1097280"/>
          </a:xfrm>
          <a:prstGeom prst="roundRect">
            <a:avLst>
              <a:gd name="adj" fmla="val 5000"/>
            </a:avLst>
          </a:prstGeom>
          <a:solidFill>
            <a:srgbClr val="0B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554480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9B5C9"/>
                </a:solidFill>
                <a:latin typeface="微软雅黑"/>
                <a:ea typeface="微软雅黑"/>
              </a:rPr>
              <a:t>碳成本公式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810512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活动数据 × 排放因子 × 碳价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+ 履约 / 超额成本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97480"/>
            <a:ext cx="1783080" cy="804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779776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E5A8A"/>
                </a:solidFill>
                <a:latin typeface="微软雅黑"/>
                <a:ea typeface="微软雅黑"/>
              </a:rPr>
              <a:t>实测碳量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026664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C6B7A"/>
                </a:solidFill>
                <a:latin typeface="微软雅黑"/>
                <a:ea typeface="微软雅黑"/>
              </a:rPr>
              <a:t>装置实时数据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04872" y="2697480"/>
            <a:ext cx="1783080" cy="804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4600" y="2779776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E5A8A"/>
                </a:solidFill>
                <a:latin typeface="微软雅黑"/>
                <a:ea typeface="微软雅黑"/>
              </a:rPr>
              <a:t>发票金额/数量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3026664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C6B7A"/>
                </a:solidFill>
                <a:latin typeface="微软雅黑"/>
                <a:ea typeface="微软雅黑"/>
              </a:rPr>
              <a:t>财务证据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6824" y="2697480"/>
            <a:ext cx="1783080" cy="804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6552" y="2779776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E5A8A"/>
                </a:solidFill>
                <a:latin typeface="微软雅黑"/>
                <a:ea typeface="微软雅黑"/>
              </a:rPr>
              <a:t>碳价/配额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3026664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C6B7A"/>
                </a:solidFill>
                <a:latin typeface="微软雅黑"/>
                <a:ea typeface="微软雅黑"/>
              </a:rPr>
              <a:t>策略假设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70332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微软雅黑"/>
                <a:ea typeface="微软雅黑"/>
              </a:rPr>
              <a:t>碳成本不是“再算一个百分比”，而是能进成本科目、能进预算、能进披露的一笔钱。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19088" y="1417320"/>
            <a:ext cx="2560320" cy="3520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19088" y="1417320"/>
            <a:ext cx="50292" cy="3520440"/>
          </a:xfrm>
          <a:prstGeom prst="rect">
            <a:avLst/>
          </a:prstGeom>
          <a:solidFill>
            <a:srgbClr val="0E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79" y="1545336"/>
            <a:ext cx="22494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5A8A"/>
                </a:solidFill>
                <a:latin typeface="微软雅黑"/>
                <a:ea typeface="微软雅黑"/>
              </a:rPr>
              <a:t>财务报表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79" y="1856231"/>
            <a:ext cx="2249424" cy="3026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成本科目：燃料/电力/路桥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配额资产 / 负债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碳价敏感性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预算 vs 实际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79" y="4681728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4A3"/>
                </a:solidFill>
                <a:latin typeface="微软雅黑"/>
                <a:ea typeface="微软雅黑"/>
              </a:rPr>
              <a:t>财务语言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25712" y="1417320"/>
            <a:ext cx="2560320" cy="3520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25712" y="1417320"/>
            <a:ext cx="50292" cy="3520440"/>
          </a:xfrm>
          <a:prstGeom prst="rect">
            <a:avLst/>
          </a:prstGeom>
          <a:solidFill>
            <a:srgbClr val="6B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0304" y="1545336"/>
            <a:ext cx="22494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B4C8A"/>
                </a:solidFill>
                <a:latin typeface="微软雅黑"/>
                <a:ea typeface="微软雅黑"/>
              </a:rPr>
              <a:t>ESG 报表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0304" y="1856231"/>
            <a:ext cx="2249424" cy="3026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范围一/二排放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排放强度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目标进度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披露附注 + 证据包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4681728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4A3"/>
                </a:solidFill>
                <a:latin typeface="微软雅黑"/>
                <a:ea typeface="微软雅黑"/>
              </a:rPr>
              <a:t>责任语言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074920"/>
            <a:ext cx="11183112" cy="438912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5074920"/>
            <a:ext cx="64008" cy="438912"/>
          </a:xfrm>
          <a:prstGeom prst="rect">
            <a:avLst/>
          </a:prstGeom>
          <a:solidFill>
            <a:srgbClr val="0E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5157216"/>
            <a:ext cx="1078992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0B1B2B"/>
                </a:solidFill>
                <a:latin typeface="微软雅黑"/>
                <a:ea typeface="微软雅黑"/>
              </a:rPr>
              <a:t>同一套底稿，两种语言：财务讲钱，ESG 讲责任；底稿是同一份双验后的活动数据。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650992"/>
            <a:ext cx="11183112" cy="502920"/>
          </a:xfrm>
          <a:prstGeom prst="roundRect">
            <a:avLst>
              <a:gd name="adj" fmla="val 5000"/>
            </a:avLst>
          </a:prstGeom>
          <a:solidFill>
            <a:srgbClr val="FB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724144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762A"/>
                </a:solidFill>
                <a:latin typeface="微软雅黑"/>
                <a:ea typeface="微软雅黑"/>
              </a:rPr>
              <a:t>当前状态：台账/披露六要素已有；财务报表映射、碳成本科目、ESG 指标表未做 → 后续建设。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961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7C86"/>
                </a:solidFill>
                <a:latin typeface="微软雅黑"/>
                <a:ea typeface="微软雅黑"/>
              </a:rPr>
              <a:t>ROUTE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B1B2B"/>
                </a:solidFill>
                <a:latin typeface="微软雅黑"/>
                <a:ea typeface="微软雅黑"/>
              </a:rPr>
              <a:t>高德二次模型：把“测—验—算”的数据变成最优路线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33856"/>
            <a:ext cx="566928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4A3"/>
                </a:solidFill>
                <a:latin typeface="微软雅黑"/>
                <a:ea typeface="微软雅黑"/>
              </a:rPr>
              <a:t>10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4A3"/>
                </a:solidFill>
                <a:latin typeface="微软雅黑"/>
                <a:ea typeface="微软雅黑"/>
              </a:rPr>
              <a:t>碳慧智算 · 实测—双验—算本—出表—优路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967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4A3"/>
                </a:solidFill>
                <a:latin typeface="微软雅黑"/>
                <a:ea typeface="微软雅黑"/>
              </a:rPr>
              <a:t>2026-10-28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C6B7A"/>
                </a:solidFill>
                <a:latin typeface="微软雅黑"/>
                <a:ea typeface="微软雅黑"/>
              </a:rPr>
              <a:t>高德给“路”，我们做“碳—成本—时效”的二次决策。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64208"/>
            <a:ext cx="2148840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73936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微软雅黑"/>
                <a:ea typeface="微软雅黑"/>
              </a:rPr>
              <a:t>实测碳数据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267712"/>
            <a:ext cx="2148840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77440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微软雅黑"/>
                <a:ea typeface="微软雅黑"/>
              </a:rPr>
              <a:t>双验活动数据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871216"/>
            <a:ext cx="2148840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80944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微软雅黑"/>
                <a:ea typeface="微软雅黑"/>
              </a:rPr>
              <a:t>运单 + 高德路网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474720"/>
            <a:ext cx="2148840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84448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微软雅黑"/>
                <a:ea typeface="微软雅黑"/>
              </a:rPr>
              <a:t>碳价 / 约束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724912" y="2395728"/>
            <a:ext cx="310896" cy="256032"/>
          </a:xfrm>
          <a:prstGeom prst="rightArrow">
            <a:avLst/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154680" y="1664208"/>
            <a:ext cx="406908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1792224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7A5C"/>
                </a:solidFill>
                <a:latin typeface="微软雅黑"/>
                <a:ea typeface="微软雅黑"/>
              </a:rPr>
              <a:t>高德二次模型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213969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候选路线 / 路况 / 收费 / 车型 / 载重</a:t>
            </a:r>
          </a:p>
        </p:txBody>
      </p:sp>
      <p:sp>
        <p:nvSpPr>
          <p:cNvPr id="21" name="Oval 20"/>
          <p:cNvSpPr/>
          <p:nvPr/>
        </p:nvSpPr>
        <p:spPr>
          <a:xfrm>
            <a:off x="3364992" y="2560320"/>
            <a:ext cx="82296" cy="82296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2487168"/>
            <a:ext cx="3429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B1B2B"/>
                </a:solidFill>
                <a:latin typeface="微软雅黑"/>
                <a:ea typeface="微软雅黑"/>
              </a:rPr>
              <a:t>路线级碳核算</a:t>
            </a:r>
          </a:p>
        </p:txBody>
      </p:sp>
      <p:sp>
        <p:nvSpPr>
          <p:cNvPr id="23" name="Oval 22"/>
          <p:cNvSpPr/>
          <p:nvPr/>
        </p:nvSpPr>
        <p:spPr>
          <a:xfrm>
            <a:off x="3364992" y="2944368"/>
            <a:ext cx="82296" cy="82296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47872" y="2871216"/>
            <a:ext cx="3429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B1B2B"/>
                </a:solidFill>
                <a:latin typeface="微软雅黑"/>
                <a:ea typeface="微软雅黑"/>
              </a:rPr>
              <a:t>路线级成本核算</a:t>
            </a:r>
          </a:p>
        </p:txBody>
      </p:sp>
      <p:sp>
        <p:nvSpPr>
          <p:cNvPr id="25" name="Oval 24"/>
          <p:cNvSpPr/>
          <p:nvPr/>
        </p:nvSpPr>
        <p:spPr>
          <a:xfrm>
            <a:off x="3364992" y="3328416"/>
            <a:ext cx="82296" cy="82296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47872" y="3255264"/>
            <a:ext cx="3429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B1B2B"/>
                </a:solidFill>
                <a:latin typeface="微软雅黑"/>
                <a:ea typeface="微软雅黑"/>
              </a:rPr>
              <a:t>续航/窗口/补能/限行约束</a:t>
            </a:r>
          </a:p>
        </p:txBody>
      </p:sp>
      <p:sp>
        <p:nvSpPr>
          <p:cNvPr id="27" name="Oval 26"/>
          <p:cNvSpPr/>
          <p:nvPr/>
        </p:nvSpPr>
        <p:spPr>
          <a:xfrm>
            <a:off x="3364992" y="3712464"/>
            <a:ext cx="82296" cy="82296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47872" y="3639312"/>
            <a:ext cx="3429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B1B2B"/>
                </a:solidFill>
                <a:latin typeface="微软雅黑"/>
                <a:ea typeface="微软雅黑"/>
              </a:rPr>
              <a:t>碳/成本/时效多目标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296912" y="2834640"/>
            <a:ext cx="310896" cy="256032"/>
          </a:xfrm>
          <a:prstGeom prst="rightArrow">
            <a:avLst/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26679" y="1664208"/>
            <a:ext cx="3959352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60" y="1792224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4762A"/>
                </a:solidFill>
                <a:latin typeface="微软雅黑"/>
                <a:ea typeface="微软雅黑"/>
              </a:rPr>
              <a:t>最优路线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2157984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同一条 OD，按碳价 λ 选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“碳最低 / 成本最低 / 时效最优”的可行解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2926080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7A5C"/>
                </a:solidFill>
                <a:latin typeface="微软雅黑"/>
                <a:ea typeface="微软雅黑"/>
              </a:rPr>
              <a:t>→ 执行数据回流实测与双验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526280"/>
            <a:ext cx="3520440" cy="841248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" y="460857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5A8A"/>
                </a:solidFill>
                <a:latin typeface="微软雅黑"/>
                <a:ea typeface="微软雅黑"/>
              </a:rPr>
              <a:t>310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" y="4937760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微软雅黑"/>
                <a:ea typeface="微软雅黑"/>
              </a:rPr>
              <a:t>热点 OD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70248" y="4526280"/>
            <a:ext cx="3520440" cy="841248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16552" y="460857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5A8A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16552" y="4937760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微软雅黑"/>
                <a:ea typeface="微软雅黑"/>
              </a:rPr>
              <a:t>上海→北京真实路线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37576" y="4526280"/>
            <a:ext cx="3520440" cy="841248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83880" y="460857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5A8A"/>
                </a:solidFill>
                <a:latin typeface="微软雅黑"/>
                <a:ea typeface="微软雅黑"/>
              </a:rPr>
              <a:t>40.6% / 82.5%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80" y="4937760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微软雅黑"/>
                <a:ea typeface="微软雅黑"/>
              </a:rPr>
              <a:t>路段命中 / 排放覆盖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5577840"/>
            <a:ext cx="11183112" cy="438912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2920" y="5577840"/>
            <a:ext cx="64008" cy="438912"/>
          </a:xfrm>
          <a:prstGeom prst="rect">
            <a:avLst/>
          </a:prstGeom>
          <a:solidFill>
            <a:srgbClr val="0E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5660136"/>
            <a:ext cx="1078992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0B1B2B"/>
                </a:solidFill>
                <a:latin typeface="微软雅黑"/>
                <a:ea typeface="微软雅黑"/>
              </a:rPr>
              <a:t>二次模型 = 高德路网 + 自研碳/成本/约束层；不是在高德上画线，而是在路网上做决策。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126480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4762A"/>
                </a:solidFill>
                <a:latin typeface="微软雅黑"/>
                <a:ea typeface="微软雅黑"/>
              </a:rPr>
              <a:t>当前：路线原型已通；缓存/配额/多策略/多 seed 复现未完成 → 待重构。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961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7C86"/>
                </a:solidFill>
                <a:latin typeface="微软雅黑"/>
                <a:ea typeface="微软雅黑"/>
              </a:rPr>
              <a:t>WHAT 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B1B2B"/>
                </a:solidFill>
                <a:latin typeface="微软雅黑"/>
                <a:ea typeface="微软雅黑"/>
              </a:rPr>
              <a:t>计算方式升级：从“估算碳”到“实测 + 双验 + 可入账”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33856"/>
            <a:ext cx="566928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4A3"/>
                </a:solidFill>
                <a:latin typeface="微软雅黑"/>
                <a:ea typeface="微软雅黑"/>
              </a:rPr>
              <a:t>11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4A3"/>
                </a:solidFill>
                <a:latin typeface="微软雅黑"/>
                <a:ea typeface="微软雅黑"/>
              </a:rPr>
              <a:t>碳慧智算 · 实测—双验—算本—出表—优路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967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4A3"/>
                </a:solidFill>
                <a:latin typeface="微软雅黑"/>
                <a:ea typeface="微软雅黑"/>
              </a:rPr>
              <a:t>2026-10-28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89888"/>
          <a:ext cx="11183112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617720"/>
                <a:gridCol w="5148072"/>
              </a:tblGrid>
              <a:tr h="47548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 marL="54864" marR="45720" marT="18288" marB="18288" anchor="ctr">
                    <a:solidFill>
                      <a:srgbClr val="0E3B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旧做法</a:t>
                      </a:r>
                    </a:p>
                  </a:txBody>
                  <a:tcPr marL="54864" marR="45720" marT="18288" marB="18288" anchor="ctr">
                    <a:solidFill>
                      <a:srgbClr val="0E3B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新做法</a:t>
                      </a:r>
                    </a:p>
                  </a:txBody>
                  <a:tcPr marL="54864" marR="45720" marT="18288" marB="18288" anchor="ctr">
                    <a:solidFill>
                      <a:srgbClr val="0E3B5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B1B2B"/>
                          </a:solidFill>
                          <a:latin typeface="微软雅黑"/>
                          <a:ea typeface="微软雅黑"/>
                        </a:rPr>
                        <a:t>数据源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B1B2B"/>
                          </a:solidFill>
                          <a:latin typeface="微软雅黑"/>
                          <a:ea typeface="微软雅黑"/>
                        </a:rPr>
                        <a:t>运单 + 车型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B1B2B"/>
                          </a:solidFill>
                          <a:latin typeface="微软雅黑"/>
                          <a:ea typeface="微软雅黑"/>
                        </a:rPr>
                        <a:t>装置实测 + 发票 + 运单 + 路网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B1B2B"/>
                          </a:solidFill>
                          <a:latin typeface="微软雅黑"/>
                          <a:ea typeface="微软雅黑"/>
                        </a:rPr>
                        <a:t>计量单元</a:t>
                      </a:r>
                    </a:p>
                  </a:txBody>
                  <a:tcPr marL="54864" marR="45720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B1B2B"/>
                          </a:solidFill>
                          <a:latin typeface="微软雅黑"/>
                          <a:ea typeface="微软雅黑"/>
                        </a:rPr>
                        <a:t>年 / 企业总量</a:t>
                      </a:r>
                    </a:p>
                  </a:txBody>
                  <a:tcPr marL="54864" marR="45720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B1B2B"/>
                          </a:solidFill>
                          <a:latin typeface="微软雅黑"/>
                          <a:ea typeface="微软雅黑"/>
                        </a:rPr>
                        <a:t>段 / 趟 / 票 / 秒级读数</a:t>
                      </a:r>
                    </a:p>
                  </a:txBody>
                  <a:tcPr marL="54864" marR="45720" marT="18288" marB="18288" anchor="ctr">
                    <a:solidFill>
                      <a:srgbClr val="F7F9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B1B2B"/>
                          </a:solidFill>
                          <a:latin typeface="微软雅黑"/>
                          <a:ea typeface="微软雅黑"/>
                        </a:rPr>
                        <a:t>验证方式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B1B2B"/>
                          </a:solidFill>
                          <a:latin typeface="微软雅黑"/>
                          <a:ea typeface="微软雅黑"/>
                        </a:rPr>
                        <a:t>单因子估算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B1B2B"/>
                          </a:solidFill>
                          <a:latin typeface="微软雅黑"/>
                          <a:ea typeface="微软雅黑"/>
                        </a:rPr>
                        <a:t>装置 vs 发票双重验证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B1B2B"/>
                          </a:solidFill>
                          <a:latin typeface="微软雅黑"/>
                          <a:ea typeface="微软雅黑"/>
                        </a:rPr>
                        <a:t>碳成本</a:t>
                      </a:r>
                    </a:p>
                  </a:txBody>
                  <a:tcPr marL="54864" marR="45720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B1B2B"/>
                          </a:solidFill>
                          <a:latin typeface="微软雅黑"/>
                          <a:ea typeface="微软雅黑"/>
                        </a:rPr>
                        <a:t>只算减排率 / 投资</a:t>
                      </a:r>
                    </a:p>
                  </a:txBody>
                  <a:tcPr marL="54864" marR="45720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B1B2B"/>
                          </a:solidFill>
                          <a:latin typeface="微软雅黑"/>
                          <a:ea typeface="微软雅黑"/>
                        </a:rPr>
                        <a:t>碳成本入账（元/tCO₂e）</a:t>
                      </a:r>
                    </a:p>
                  </a:txBody>
                  <a:tcPr marL="54864" marR="45720" marT="18288" marB="18288" anchor="ctr">
                    <a:solidFill>
                      <a:srgbClr val="F7F9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B1B2B"/>
                          </a:solidFill>
                          <a:latin typeface="微软雅黑"/>
                          <a:ea typeface="微软雅黑"/>
                        </a:rPr>
                        <a:t>报表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B1B2B"/>
                          </a:solidFill>
                          <a:latin typeface="微软雅黑"/>
                          <a:ea typeface="微软雅黑"/>
                        </a:rPr>
                        <a:t>方案文档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B1B2B"/>
                          </a:solidFill>
                          <a:latin typeface="微软雅黑"/>
                          <a:ea typeface="微软雅黑"/>
                        </a:rPr>
                        <a:t>财务报表 + ESG 报表 + 台账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B1B2B"/>
                          </a:solidFill>
                          <a:latin typeface="微软雅黑"/>
                          <a:ea typeface="微软雅黑"/>
                        </a:rPr>
                        <a:t>路线</a:t>
                      </a:r>
                    </a:p>
                  </a:txBody>
                  <a:tcPr marL="54864" marR="45720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B1B2B"/>
                          </a:solidFill>
                          <a:latin typeface="微软雅黑"/>
                          <a:ea typeface="微软雅黑"/>
                        </a:rPr>
                        <a:t>静态里程 / 示意图</a:t>
                      </a:r>
                    </a:p>
                  </a:txBody>
                  <a:tcPr marL="54864" marR="45720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B1B2B"/>
                          </a:solidFill>
                          <a:latin typeface="微软雅黑"/>
                          <a:ea typeface="微软雅黑"/>
                        </a:rPr>
                        <a:t>高德二次模型 / 最优路线</a:t>
                      </a:r>
                    </a:p>
                  </a:txBody>
                  <a:tcPr marL="54864" marR="45720" marT="18288" marB="18288" anchor="ctr">
                    <a:solidFill>
                      <a:srgbClr val="F7F9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B1B2B"/>
                          </a:solidFill>
                          <a:latin typeface="微软雅黑"/>
                          <a:ea typeface="微软雅黑"/>
                        </a:rPr>
                        <a:t>证据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B1B2B"/>
                          </a:solidFill>
                          <a:latin typeface="微软雅黑"/>
                          <a:ea typeface="微软雅黑"/>
                        </a:rPr>
                        <a:t>Excel / 人工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B1B2B"/>
                          </a:solidFill>
                          <a:latin typeface="微软雅黑"/>
                          <a:ea typeface="微软雅黑"/>
                        </a:rPr>
                        <a:t>设备读数 + 发票 + run_id + 闸门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5532120"/>
            <a:ext cx="11183112" cy="438912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5532120"/>
            <a:ext cx="64008" cy="438912"/>
          </a:xfrm>
          <a:prstGeom prst="rect">
            <a:avLst/>
          </a:prstGeom>
          <a:solidFill>
            <a:srgbClr val="0E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5614416"/>
            <a:ext cx="1078992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0B1B2B"/>
                </a:solidFill>
                <a:latin typeface="微软雅黑"/>
                <a:ea typeface="微软雅黑"/>
              </a:rPr>
              <a:t>装置也救不了统计单元：同一趟车被算 2.73 次的问题，先统一口径，再谈实测。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053328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升级的判据：改了什么、证据在哪、错了怎么回滚；回答不了，就不算升级。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961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7C86"/>
                </a:solidFill>
                <a:latin typeface="微软雅黑"/>
                <a:ea typeface="微软雅黑"/>
              </a:rPr>
              <a:t>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B1B2B"/>
                </a:solidFill>
                <a:latin typeface="微软雅黑"/>
                <a:ea typeface="微软雅黑"/>
              </a:rPr>
              <a:t>进度盘点：现有 26 项 + 新增 5 项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33856"/>
            <a:ext cx="566928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4A3"/>
                </a:solidFill>
                <a:latin typeface="微软雅黑"/>
                <a:ea typeface="微软雅黑"/>
              </a:rPr>
              <a:t>12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4A3"/>
                </a:solidFill>
                <a:latin typeface="微软雅黑"/>
                <a:ea typeface="微软雅黑"/>
              </a:rPr>
              <a:t>碳慧智算 · 实测—双验—算本—出表—优路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967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4A3"/>
                </a:solidFill>
                <a:latin typeface="微软雅黑"/>
                <a:ea typeface="微软雅黑"/>
              </a:rPr>
              <a:t>2026-10-28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7C86"/>
                </a:solidFill>
                <a:latin typeface="微软雅黑"/>
                <a:ea typeface="微软雅黑"/>
              </a:rPr>
              <a:t>现有 WBS · 26 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27632"/>
            <a:ext cx="1298448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0078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F7A5C"/>
                </a:solidFill>
                <a:latin typeface="微软雅黑"/>
                <a:ea typeface="微软雅黑"/>
              </a:rPr>
              <a:t>已具备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38528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7A5C"/>
                </a:solidFill>
                <a:latin typeface="微软雅黑"/>
                <a:ea typeface="微软雅黑"/>
              </a:rPr>
              <a:t>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1627632"/>
            <a:ext cx="1298448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170078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4762A"/>
                </a:solidFill>
                <a:latin typeface="微软雅黑"/>
                <a:ea typeface="微软雅黑"/>
              </a:rPr>
              <a:t>在建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1938528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4762A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627632"/>
            <a:ext cx="1298448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70078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4A6FA5"/>
                </a:solidFill>
                <a:latin typeface="微软雅黑"/>
                <a:ea typeface="微软雅黑"/>
              </a:rPr>
              <a:t>设计完成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938528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A6FA5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1627632"/>
            <a:ext cx="1298448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170078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94A3"/>
                </a:solidFill>
                <a:latin typeface="微软雅黑"/>
                <a:ea typeface="微软雅黑"/>
              </a:rPr>
              <a:t>未启动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1938528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8A94A3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670048"/>
            <a:ext cx="5760720" cy="3840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2670048"/>
            <a:ext cx="2880359" cy="384048"/>
          </a:xfrm>
          <a:prstGeom prst="roundRect">
            <a:avLst>
              <a:gd name="adj" fmla="val 3000"/>
            </a:avLst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83279" y="2670048"/>
            <a:ext cx="1329396" cy="384048"/>
          </a:xfrm>
          <a:prstGeom prst="roundRect">
            <a:avLst>
              <a:gd name="adj" fmla="val 0"/>
            </a:avLst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12676" y="2670048"/>
            <a:ext cx="664698" cy="384048"/>
          </a:xfrm>
          <a:prstGeom prst="roundRect">
            <a:avLst>
              <a:gd name="adj" fmla="val 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377375" y="2670048"/>
            <a:ext cx="886264" cy="384048"/>
          </a:xfrm>
          <a:prstGeom prst="roundRect">
            <a:avLst>
              <a:gd name="adj" fmla="val 3000"/>
            </a:avLst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182112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微软雅黑"/>
                <a:ea typeface="微软雅黑"/>
              </a:rPr>
              <a:t>13 已具备 / 6 在建 / 3 设计 / 4 未启动（合计 26）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657600"/>
            <a:ext cx="5669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762A"/>
                </a:solidFill>
                <a:latin typeface="微软雅黑"/>
                <a:ea typeface="微软雅黑"/>
              </a:rPr>
              <a:t>新增范围（未启动，未计入原 26 项）</a:t>
            </a:r>
          </a:p>
        </p:txBody>
      </p:sp>
      <p:sp>
        <p:nvSpPr>
          <p:cNvPr id="28" name="Oval 27"/>
          <p:cNvSpPr/>
          <p:nvPr/>
        </p:nvSpPr>
        <p:spPr>
          <a:xfrm>
            <a:off x="502920" y="4078224"/>
            <a:ext cx="82296" cy="82296"/>
          </a:xfrm>
          <a:prstGeom prst="ellipse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005072"/>
            <a:ext cx="5394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B1B2B"/>
                </a:solidFill>
                <a:latin typeface="微软雅黑"/>
                <a:ea typeface="微软雅黑"/>
              </a:rPr>
              <a:t>工科碳测算装置接入</a:t>
            </a:r>
          </a:p>
        </p:txBody>
      </p:sp>
      <p:sp>
        <p:nvSpPr>
          <p:cNvPr id="30" name="Oval 29"/>
          <p:cNvSpPr/>
          <p:nvPr/>
        </p:nvSpPr>
        <p:spPr>
          <a:xfrm>
            <a:off x="502920" y="4462272"/>
            <a:ext cx="82296" cy="82296"/>
          </a:xfrm>
          <a:prstGeom prst="ellipse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389120"/>
            <a:ext cx="5394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B1B2B"/>
                </a:solidFill>
                <a:latin typeface="微软雅黑"/>
                <a:ea typeface="微软雅黑"/>
              </a:rPr>
              <a:t>装置 × 发票双验规则</a:t>
            </a:r>
          </a:p>
        </p:txBody>
      </p:sp>
      <p:sp>
        <p:nvSpPr>
          <p:cNvPr id="32" name="Oval 31"/>
          <p:cNvSpPr/>
          <p:nvPr/>
        </p:nvSpPr>
        <p:spPr>
          <a:xfrm>
            <a:off x="502920" y="4846320"/>
            <a:ext cx="82296" cy="82296"/>
          </a:xfrm>
          <a:prstGeom prst="ellipse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773168"/>
            <a:ext cx="5394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B1B2B"/>
                </a:solidFill>
                <a:latin typeface="微软雅黑"/>
                <a:ea typeface="微软雅黑"/>
              </a:rPr>
              <a:t>碳成本模型与科目</a:t>
            </a:r>
          </a:p>
        </p:txBody>
      </p:sp>
      <p:sp>
        <p:nvSpPr>
          <p:cNvPr id="34" name="Oval 33"/>
          <p:cNvSpPr/>
          <p:nvPr/>
        </p:nvSpPr>
        <p:spPr>
          <a:xfrm>
            <a:off x="502920" y="5230368"/>
            <a:ext cx="82296" cy="82296"/>
          </a:xfrm>
          <a:prstGeom prst="ellipse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157216"/>
            <a:ext cx="5394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B1B2B"/>
                </a:solidFill>
                <a:latin typeface="微软雅黑"/>
                <a:ea typeface="微软雅黑"/>
              </a:rPr>
              <a:t>财务报表 / ESG 字段映射</a:t>
            </a:r>
          </a:p>
        </p:txBody>
      </p:sp>
      <p:sp>
        <p:nvSpPr>
          <p:cNvPr id="36" name="Oval 35"/>
          <p:cNvSpPr/>
          <p:nvPr/>
        </p:nvSpPr>
        <p:spPr>
          <a:xfrm>
            <a:off x="502920" y="5614416"/>
            <a:ext cx="82296" cy="82296"/>
          </a:xfrm>
          <a:prstGeom prst="ellipse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541264"/>
            <a:ext cx="5394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B1B2B"/>
                </a:solidFill>
                <a:latin typeface="微软雅黑"/>
                <a:ea typeface="微软雅黑"/>
              </a:rPr>
              <a:t>高德二次模型 v2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37960" y="1417320"/>
            <a:ext cx="5138928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93408" y="1554480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7C86"/>
                </a:solidFill>
                <a:latin typeface="微软雅黑"/>
                <a:ea typeface="微软雅黑"/>
              </a:rPr>
              <a:t>怎么读这张图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93408" y="1847088"/>
            <a:ext cx="4709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B1B2B"/>
                </a:solidFill>
                <a:latin typeface="微软雅黑"/>
                <a:ea typeface="微软雅黑"/>
              </a:rPr>
              <a:t>能算的已经能算；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B1B2B"/>
                </a:solidFill>
                <a:latin typeface="微软雅黑"/>
                <a:ea typeface="微软雅黑"/>
              </a:rPr>
              <a:t>能测、能验、能入账、能选路的，还没做。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93408" y="3246120"/>
            <a:ext cx="470916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5C6B7A"/>
                </a:solidFill>
                <a:latin typeface="微软雅黑"/>
                <a:ea typeface="微软雅黑"/>
              </a:rPr>
              <a:t>已具备：核算、发票、油耗、路线原型、台账、披露、闸门、测试。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5C6B7A"/>
                </a:solidFill>
                <a:latin typeface="微软雅黑"/>
                <a:ea typeface="微软雅黑"/>
              </a:rPr>
              <a:t>未启动：装置、双验、碳成本入账、财务报表、二次模型。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93408" y="4773168"/>
            <a:ext cx="4709160" cy="640080"/>
          </a:xfrm>
          <a:prstGeom prst="roundRect">
            <a:avLst>
              <a:gd name="adj" fmla="val 4000"/>
            </a:avLst>
          </a:prstGeom>
          <a:solidFill>
            <a:srgbClr val="FB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9712" y="4864608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B4762A"/>
                </a:solidFill>
                <a:latin typeface="微软雅黑"/>
                <a:ea typeface="微软雅黑"/>
              </a:rPr>
              <a:t>新增 5 项需同步进 WBS/看板；不把“预期接入”写成“已接入”。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760720"/>
            <a:ext cx="11183112" cy="438912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" y="5760720"/>
            <a:ext cx="64008" cy="438912"/>
          </a:xfrm>
          <a:prstGeom prst="rect">
            <a:avLst/>
          </a:prstGeom>
          <a:solidFill>
            <a:srgbClr val="0E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3232" y="5843016"/>
            <a:ext cx="1078992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B2B"/>
                </a:solidFill>
                <a:latin typeface="微软雅黑"/>
                <a:ea typeface="微软雅黑"/>
              </a:rPr>
              <a:t>31 项合计：13 已具备 / 6 在建 / 3 设计完成 / 9 未启动。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961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7C86"/>
                </a:solidFill>
                <a:latin typeface="微软雅黑"/>
                <a:ea typeface="微软雅黑"/>
              </a:rPr>
              <a:t>CURRENT &amp; LONG-TERM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B1B2B"/>
                </a:solidFill>
                <a:latin typeface="微软雅黑"/>
                <a:ea typeface="微软雅黑"/>
              </a:rPr>
              <a:t>当前进度与长期路线：只谈做到的，和长期要做的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33856"/>
            <a:ext cx="566928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4A3"/>
                </a:solidFill>
                <a:latin typeface="微软雅黑"/>
                <a:ea typeface="微软雅黑"/>
              </a:rPr>
              <a:t>13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4A3"/>
                </a:solidFill>
                <a:latin typeface="微软雅黑"/>
                <a:ea typeface="微软雅黑"/>
              </a:rPr>
              <a:t>碳慧智算 · 实测—双验—算本—出表—优路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967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4A3"/>
                </a:solidFill>
                <a:latin typeface="微软雅黑"/>
                <a:ea typeface="微软雅黑"/>
              </a:rPr>
              <a:t>2026-10-28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52044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54864" cy="3246120"/>
          </a:xfrm>
          <a:prstGeom prst="rect">
            <a:avLst/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554480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A94A3"/>
                </a:solidFill>
                <a:latin typeface="微软雅黑"/>
                <a:ea typeface="微软雅黑"/>
              </a:rPr>
              <a:t>已完成 · 工程基座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01952"/>
            <a:ext cx="31546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0B1B2B"/>
                </a:solidFill>
                <a:latin typeface="微软雅黑"/>
                <a:ea typeface="微软雅黑"/>
              </a:rPr>
              <a:t>33,214 段 / 2,258.438 t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0B1B2B"/>
                </a:solidFill>
                <a:latin typeface="微软雅黑"/>
                <a:ea typeface="微软雅黑"/>
              </a:rPr>
              <a:t>28 道闸门 / 247 项测试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0B1B2B"/>
                </a:solidFill>
                <a:latin typeface="微软雅黑"/>
                <a:ea typeface="微软雅黑"/>
              </a:rPr>
              <a:t>P0 深度验收 10/10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416052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微软雅黑"/>
                <a:ea typeface="微软雅黑"/>
              </a:rPr>
              <a:t>数据、核算、发票、油耗、路线原型、台账、披露已跑通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0248" y="1417320"/>
            <a:ext cx="352044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1417320"/>
            <a:ext cx="54864" cy="32461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554480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7C86"/>
                </a:solidFill>
                <a:latin typeface="微软雅黑"/>
                <a:ea typeface="微软雅黑"/>
              </a:rPr>
              <a:t>当前在研 · v2 新增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901952"/>
            <a:ext cx="31546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0B1B2B"/>
                </a:solidFill>
                <a:latin typeface="微软雅黑"/>
                <a:ea typeface="微软雅黑"/>
              </a:rPr>
              <a:t>口径卡 v2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0B1B2B"/>
                </a:solidFill>
                <a:latin typeface="微软雅黑"/>
                <a:ea typeface="微软雅黑"/>
              </a:rPr>
              <a:t>双验原型（发票+运单模拟装置）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0B1B2B"/>
                </a:solidFill>
                <a:latin typeface="微软雅黑"/>
                <a:ea typeface="微软雅黑"/>
              </a:rPr>
              <a:t>高德二次模型 v1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0B1B2B"/>
                </a:solidFill>
                <a:latin typeface="微软雅黑"/>
                <a:ea typeface="微软雅黑"/>
              </a:rPr>
              <a:t>财报/ESG 模板 v1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416052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微软雅黑"/>
                <a:ea typeface="微软雅黑"/>
              </a:rPr>
              <a:t>把“测—验—算本—出表—优路”的链路先跑通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6" y="1417320"/>
            <a:ext cx="352044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37576" y="1417320"/>
            <a:ext cx="54864" cy="324612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8" y="1554480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762A"/>
                </a:solidFill>
                <a:latin typeface="微软雅黑"/>
                <a:ea typeface="微软雅黑"/>
              </a:rPr>
              <a:t>长期建设 · 真实数据验证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1901952"/>
            <a:ext cx="31546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0B1B2B"/>
                </a:solidFill>
                <a:latin typeface="微软雅黑"/>
                <a:ea typeface="微软雅黑"/>
              </a:rPr>
              <a:t>装置接入与校准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0B1B2B"/>
                </a:solidFill>
                <a:latin typeface="微软雅黑"/>
                <a:ea typeface="微软雅黑"/>
              </a:rPr>
              <a:t>双验规模化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0B1B2B"/>
                </a:solidFill>
                <a:latin typeface="微软雅黑"/>
                <a:ea typeface="微软雅黑"/>
              </a:rPr>
              <a:t>碳成本入账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0B1B2B"/>
                </a:solidFill>
                <a:latin typeface="微软雅黑"/>
                <a:ea typeface="微软雅黑"/>
              </a:rPr>
              <a:t>财报/ESG 产品化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0B1B2B"/>
                </a:solidFill>
                <a:latin typeface="微软雅黑"/>
                <a:ea typeface="微软雅黑"/>
              </a:rPr>
              <a:t>二次模型复制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416052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微软雅黑"/>
                <a:ea typeface="微软雅黑"/>
              </a:rPr>
              <a:t>不设时间表；用真实数据逐项验证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919472"/>
            <a:ext cx="11183112" cy="438912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919472"/>
            <a:ext cx="64008" cy="438912"/>
          </a:xfrm>
          <a:prstGeom prst="rect">
            <a:avLst/>
          </a:prstGeom>
          <a:solidFill>
            <a:srgbClr val="0E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001768"/>
            <a:ext cx="1078992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0B1B2B"/>
                </a:solidFill>
                <a:latin typeface="微软雅黑"/>
                <a:ea typeface="微软雅黑"/>
              </a:rPr>
              <a:t>长期预期不是承诺：装置、双验、入账、报表、模型五件事，都要用真实数据逐项验证。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577840"/>
            <a:ext cx="11183112" cy="502920"/>
          </a:xfrm>
          <a:prstGeom prst="roundRect">
            <a:avLst>
              <a:gd name="adj" fmla="val 5000"/>
            </a:avLst>
          </a:prstGeom>
          <a:solidFill>
            <a:srgbClr val="FB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65099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762A"/>
                </a:solidFill>
                <a:latin typeface="微软雅黑"/>
                <a:ea typeface="微软雅黑"/>
              </a:rPr>
              <a:t>当前只做到链路原型：发票 + 运单 + 路线原型；装置接入后，双验与碳成本才有真实数据。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961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7C86"/>
                </a:solidFill>
                <a:latin typeface="微软雅黑"/>
                <a:ea typeface="微软雅黑"/>
              </a:rPr>
              <a:t>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B1B2B"/>
                </a:solidFill>
                <a:latin typeface="微软雅黑"/>
                <a:ea typeface="微软雅黑"/>
              </a:rPr>
              <a:t>工商数融合：商科口径 × 数据科学 × 工科装置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33856"/>
            <a:ext cx="566928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4A3"/>
                </a:solidFill>
                <a:latin typeface="微软雅黑"/>
                <a:ea typeface="微软雅黑"/>
              </a:rPr>
              <a:t>14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4A3"/>
                </a:solidFill>
                <a:latin typeface="微软雅黑"/>
                <a:ea typeface="微软雅黑"/>
              </a:rPr>
              <a:t>碳慧智算 · 实测—双验—算本—出表—优路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967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4A3"/>
                </a:solidFill>
                <a:latin typeface="微软雅黑"/>
                <a:ea typeface="微软雅黑"/>
              </a:rPr>
              <a:t>2026-10-28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C6B7A"/>
                </a:solidFill>
                <a:latin typeface="微软雅黑"/>
                <a:ea typeface="微软雅黑"/>
              </a:rPr>
              <a:t>测得准，是融合的第一块试金石：工科给读数，数据给验证，商科给口径。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352044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10512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E5A8A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66543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E5A8A"/>
                </a:solidFill>
                <a:latin typeface="微软雅黑"/>
                <a:ea typeface="微软雅黑"/>
              </a:rPr>
              <a:t>商科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323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1B2B"/>
                </a:solidFill>
                <a:latin typeface="微软雅黑"/>
                <a:ea typeface="微软雅黑"/>
              </a:rPr>
              <a:t>会计 / 财务 / ESG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61488"/>
            <a:ext cx="31089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5C6B7A"/>
                </a:solidFill>
                <a:latin typeface="微软雅黑"/>
                <a:ea typeface="微软雅黑"/>
              </a:rPr>
              <a:t>成本科目、配额资产、预算、披露附注、审计证据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0248" y="1691640"/>
            <a:ext cx="352044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1810512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E7C86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2066543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E7C86"/>
                </a:solidFill>
                <a:latin typeface="微软雅黑"/>
                <a:ea typeface="微软雅黑"/>
              </a:rPr>
              <a:t>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24323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1B2B"/>
                </a:solidFill>
                <a:latin typeface="微软雅黑"/>
                <a:ea typeface="微软雅黑"/>
              </a:rPr>
              <a:t>双验 / 模型 / 证据链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2761488"/>
            <a:ext cx="31089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5C6B7A"/>
                </a:solidFill>
                <a:latin typeface="微软雅黑"/>
                <a:ea typeface="微软雅黑"/>
              </a:rPr>
              <a:t>统计单元、匹配键、异常处置、路线多目标、run_id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7576" y="1691640"/>
            <a:ext cx="352044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0456" y="1810512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4762A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6" y="2066543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4762A"/>
                </a:solidFill>
                <a:latin typeface="微软雅黑"/>
                <a:ea typeface="微软雅黑"/>
              </a:rPr>
              <a:t>工科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24323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1B2B"/>
                </a:solidFill>
                <a:latin typeface="微软雅黑"/>
                <a:ea typeface="微软雅黑"/>
              </a:rPr>
              <a:t>装置 / 采样 / 校准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761488"/>
            <a:ext cx="31089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5C6B7A"/>
                </a:solidFill>
                <a:latin typeface="微软雅黑"/>
                <a:ea typeface="微软雅黑"/>
              </a:rPr>
              <a:t>CO₂ / 能耗 / 工况、采样频率、端到端时延、断网补传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315968"/>
            <a:ext cx="11183112" cy="1097280"/>
          </a:xfrm>
          <a:prstGeom prst="roundRect">
            <a:avLst>
              <a:gd name="adj" fmla="val 5000"/>
            </a:avLst>
          </a:prstGeom>
          <a:solidFill>
            <a:srgbClr val="0B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434840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B5C9"/>
                </a:solidFill>
                <a:latin typeface="微软雅黑"/>
                <a:ea typeface="微软雅黑"/>
              </a:rPr>
              <a:t>融合点：同一套活动数据，三种语言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709160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财务语言：成本 / 预算 ｜ ESG 语言：范围一/二 / 披露 ｜ 路线语言：碳 / 成本 / 时效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同一套证据：设备读数 + 发票 + run_id + 闸门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623560"/>
            <a:ext cx="11183112" cy="438912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5623560"/>
            <a:ext cx="64008" cy="438912"/>
          </a:xfrm>
          <a:prstGeom prst="rect">
            <a:avLst/>
          </a:prstGeom>
          <a:solidFill>
            <a:srgbClr val="0E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5705856"/>
            <a:ext cx="1078992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0B1B2B"/>
                </a:solidFill>
                <a:latin typeface="微软雅黑"/>
                <a:ea typeface="微软雅黑"/>
              </a:rPr>
              <a:t>工商数融合不是拼盘：商科定口径，数据做验证，工科给实测；三者必须落在同一套活动数据上。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961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7C86"/>
                </a:solidFill>
                <a:latin typeface="微软雅黑"/>
                <a:ea typeface="微软雅黑"/>
              </a:rPr>
              <a:t>LONG-TERM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B1B2B"/>
                </a:solidFill>
                <a:latin typeface="微软雅黑"/>
                <a:ea typeface="微软雅黑"/>
              </a:rPr>
              <a:t>长期预期与边界：从单企业闭环到行业碳数据基础设施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33856"/>
            <a:ext cx="566928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4A3"/>
                </a:solidFill>
                <a:latin typeface="微软雅黑"/>
                <a:ea typeface="微软雅黑"/>
              </a:rPr>
              <a:t>15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4A3"/>
                </a:solidFill>
                <a:latin typeface="微软雅黑"/>
                <a:ea typeface="微软雅黑"/>
              </a:rPr>
              <a:t>碳慧智算 · 实测—双验—算本—出表—优路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967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4A3"/>
                </a:solidFill>
                <a:latin typeface="微软雅黑"/>
                <a:ea typeface="微软雅黑"/>
              </a:rPr>
              <a:t>2026-10-28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658368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54864" cy="84124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45336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7C86"/>
                </a:solidFill>
                <a:latin typeface="微软雅黑"/>
                <a:ea typeface="微软雅黑"/>
              </a:rPr>
              <a:t>01 单企业闭环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1545336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微软雅黑"/>
                <a:ea typeface="微软雅黑"/>
              </a:rPr>
              <a:t>实测 → 双验 → 碳成本 → 财报/ESG → 最优路线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423160"/>
            <a:ext cx="658368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423160"/>
            <a:ext cx="54864" cy="841248"/>
          </a:xfrm>
          <a:prstGeom prst="rect">
            <a:avLst/>
          </a:prstGeom>
          <a:solidFill>
            <a:srgbClr val="0E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551176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5A8A"/>
                </a:solidFill>
                <a:latin typeface="微软雅黑"/>
                <a:ea typeface="微软雅黑"/>
              </a:rPr>
              <a:t>02 多企业复制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551176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微软雅黑"/>
                <a:ea typeface="微软雅黑"/>
              </a:rPr>
              <a:t>口径模板化 · 装置管理 · 报表模板库 · 路线模型复用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429000"/>
            <a:ext cx="658368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429000"/>
            <a:ext cx="54864" cy="841248"/>
          </a:xfrm>
          <a:prstGeom prst="rect">
            <a:avLst/>
          </a:prstGeom>
          <a:solidFill>
            <a:srgbClr val="6B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557016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B4C8A"/>
                </a:solidFill>
                <a:latin typeface="微软雅黑"/>
                <a:ea typeface="微软雅黑"/>
              </a:rPr>
              <a:t>03 行业基础设施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557016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微软雅黑"/>
                <a:ea typeface="微软雅黑"/>
              </a:rPr>
              <a:t>碳数据互认 · 证据包 · 路线模型服务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1417320"/>
            <a:ext cx="4416552" cy="3127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1554480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762A"/>
                </a:solidFill>
                <a:latin typeface="微软雅黑"/>
                <a:ea typeface="微软雅黑"/>
              </a:rPr>
              <a:t>三条边界（不回避）</a:t>
            </a:r>
          </a:p>
        </p:txBody>
      </p:sp>
      <p:sp>
        <p:nvSpPr>
          <p:cNvPr id="22" name="Oval 21"/>
          <p:cNvSpPr/>
          <p:nvPr/>
        </p:nvSpPr>
        <p:spPr>
          <a:xfrm>
            <a:off x="7479792" y="2011680"/>
            <a:ext cx="82296" cy="82296"/>
          </a:xfrm>
          <a:prstGeom prst="ellipse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62672" y="1938528"/>
            <a:ext cx="37947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装置未接入：采样/时延/校准仍是目标</a:t>
            </a:r>
          </a:p>
        </p:txBody>
      </p:sp>
      <p:sp>
        <p:nvSpPr>
          <p:cNvPr id="24" name="Oval 23"/>
          <p:cNvSpPr/>
          <p:nvPr/>
        </p:nvSpPr>
        <p:spPr>
          <a:xfrm>
            <a:off x="7479792" y="2798064"/>
            <a:ext cx="82296" cy="82296"/>
          </a:xfrm>
          <a:prstGeom prst="ellipse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62672" y="2724912"/>
            <a:ext cx="37947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真实企业数据未接入：双验与碳成本仍是模拟验证</a:t>
            </a:r>
          </a:p>
        </p:txBody>
      </p:sp>
      <p:sp>
        <p:nvSpPr>
          <p:cNvPr id="26" name="Oval 25"/>
          <p:cNvSpPr/>
          <p:nvPr/>
        </p:nvSpPr>
        <p:spPr>
          <a:xfrm>
            <a:off x="7479792" y="3584448"/>
            <a:ext cx="82296" cy="82296"/>
          </a:xfrm>
          <a:prstGeom prst="ellipse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62672" y="3511296"/>
            <a:ext cx="37947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微软雅黑"/>
                <a:ea typeface="微软雅黑"/>
              </a:rPr>
              <a:t>方法未鉴证：财报/ESG 映射未完成，不能称“已认证”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828032"/>
            <a:ext cx="11183112" cy="438912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4828032"/>
            <a:ext cx="64008" cy="438912"/>
          </a:xfrm>
          <a:prstGeom prst="rect">
            <a:avLst/>
          </a:prstGeom>
          <a:solidFill>
            <a:srgbClr val="0E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4910328"/>
            <a:ext cx="1078992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0B1B2B"/>
                </a:solidFill>
                <a:latin typeface="微软雅黑"/>
                <a:ea typeface="微软雅黑"/>
              </a:rPr>
              <a:t>长期预期不是承诺：不设时间表、不承诺结果、不把预期写成完成。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468112"/>
            <a:ext cx="11183112" cy="502920"/>
          </a:xfrm>
          <a:prstGeom prst="roundRect">
            <a:avLst>
              <a:gd name="adj" fmla="val 5000"/>
            </a:avLst>
          </a:prstGeom>
          <a:solidFill>
            <a:srgbClr val="FB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541264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762A"/>
                </a:solidFill>
                <a:latin typeface="微软雅黑"/>
                <a:ea typeface="微软雅黑"/>
              </a:rPr>
              <a:t>目前只讨论两件事：已经做到的进度，和长期要验证的方向；阶段性时间表不在这版展开。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961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7C86"/>
                </a:solidFill>
                <a:latin typeface="微软雅黑"/>
                <a:ea typeface="微软雅黑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B1B2B"/>
                </a:solidFill>
                <a:latin typeface="微软雅黑"/>
                <a:ea typeface="微软雅黑"/>
              </a:rPr>
              <a:t>结语：把工商数融合做深，把碳数据做成基础设施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33856"/>
            <a:ext cx="566928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4A3"/>
                </a:solidFill>
                <a:latin typeface="微软雅黑"/>
                <a:ea typeface="微软雅黑"/>
              </a:rPr>
              <a:t>16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4A3"/>
                </a:solidFill>
                <a:latin typeface="微软雅黑"/>
                <a:ea typeface="微软雅黑"/>
              </a:rPr>
              <a:t>碳慧智算 · 实测—双验—算本—出表—优路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967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4A3"/>
                </a:solidFill>
                <a:latin typeface="微软雅黑"/>
                <a:ea typeface="微软雅黑"/>
              </a:rPr>
              <a:t>2026-10-28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21031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54864" cy="1417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664208"/>
            <a:ext cx="1783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E7C86"/>
                </a:solidFill>
                <a:latin typeface="微软雅黑"/>
                <a:ea typeface="微软雅黑"/>
              </a:rPr>
              <a:t>测得准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10312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微软雅黑"/>
                <a:ea typeface="微软雅黑"/>
              </a:rPr>
              <a:t>工科装置实测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508760"/>
            <a:ext cx="21031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1508760"/>
            <a:ext cx="54864" cy="141732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35224" y="1664208"/>
            <a:ext cx="1783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4762A"/>
                </a:solidFill>
                <a:latin typeface="微软雅黑"/>
                <a:ea typeface="微软雅黑"/>
              </a:rPr>
              <a:t>验得实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5224" y="210312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微软雅黑"/>
                <a:ea typeface="微软雅黑"/>
              </a:rPr>
              <a:t>发票双重验证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1508760"/>
            <a:ext cx="21031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74920" y="1508760"/>
            <a:ext cx="54864" cy="1417320"/>
          </a:xfrm>
          <a:prstGeom prst="rect">
            <a:avLst/>
          </a:prstGeom>
          <a:solidFill>
            <a:srgbClr val="0E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21224" y="1664208"/>
            <a:ext cx="1783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E5A8A"/>
                </a:solidFill>
                <a:latin typeface="微软雅黑"/>
                <a:ea typeface="微软雅黑"/>
              </a:rPr>
              <a:t>算得清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210312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微软雅黑"/>
                <a:ea typeface="微软雅黑"/>
              </a:rPr>
              <a:t>碳成本 + 账体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1508760"/>
            <a:ext cx="21031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1508760"/>
            <a:ext cx="54864" cy="1417320"/>
          </a:xfrm>
          <a:prstGeom prst="rect">
            <a:avLst/>
          </a:prstGeom>
          <a:solidFill>
            <a:srgbClr val="6B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07224" y="1664208"/>
            <a:ext cx="1783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B4C8A"/>
                </a:solidFill>
                <a:latin typeface="微软雅黑"/>
                <a:ea typeface="微软雅黑"/>
              </a:rPr>
              <a:t>报得出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07224" y="210312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微软雅黑"/>
                <a:ea typeface="微软雅黑"/>
              </a:rPr>
              <a:t>财务报表 + ESG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46920" y="1508760"/>
            <a:ext cx="21031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46920" y="1508760"/>
            <a:ext cx="54864" cy="1417320"/>
          </a:xfrm>
          <a:prstGeom prst="rect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93224" y="1664208"/>
            <a:ext cx="1783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7A5C"/>
                </a:solidFill>
                <a:latin typeface="微软雅黑"/>
                <a:ea typeface="微软雅黑"/>
              </a:rPr>
              <a:t>选得优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93224" y="210312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微软雅黑"/>
                <a:ea typeface="微软雅黑"/>
              </a:rPr>
              <a:t>高德二次模型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246120"/>
            <a:ext cx="11183112" cy="1417320"/>
          </a:xfrm>
          <a:prstGeom prst="roundRect">
            <a:avLst>
              <a:gd name="adj" fmla="val 5000"/>
            </a:avLst>
          </a:prstGeom>
          <a:solidFill>
            <a:srgbClr val="0B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38328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</a:rPr>
              <a:t>让每一吨碳，都有实测、有票据、有账、有最优路线。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3822191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FB2C4"/>
                </a:solidFill>
                <a:latin typeface="微软雅黑"/>
                <a:ea typeface="微软雅黑"/>
              </a:rPr>
              <a:t>当前：13 已具备 / 6 在建 / 3 设计 / 9 未启动（31 项）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FB2C4"/>
                </a:solidFill>
                <a:latin typeface="微软雅黑"/>
                <a:ea typeface="微软雅黑"/>
              </a:rPr>
              <a:t>长期：装置、双验、碳成本、财报/ESG、二次模型五件事持续验证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983480"/>
            <a:ext cx="11183112" cy="438912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4983480"/>
            <a:ext cx="64008" cy="438912"/>
          </a:xfrm>
          <a:prstGeom prst="rect">
            <a:avLst/>
          </a:prstGeom>
          <a:solidFill>
            <a:srgbClr val="0E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5065776"/>
            <a:ext cx="1078992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0B1B2B"/>
                </a:solidFill>
                <a:latin typeface="微软雅黑"/>
                <a:ea typeface="微软雅黑"/>
              </a:rPr>
              <a:t>工商数融合的落点：商科口径、数据验证、工科实测，最终都落在同一套活动数据与同一份证据链上。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989320"/>
            <a:ext cx="10972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3B5A"/>
                </a:solidFill>
                <a:latin typeface="微软雅黑"/>
                <a:ea typeface="微软雅黑"/>
              </a:rPr>
              <a:t>谢谢老师指导。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